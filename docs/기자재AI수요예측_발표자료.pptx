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lang="ko-KR" altLang="en-US" sz="1400" b="0" i="0" u="none" strike="noStrike">
                <a:solidFill>
                  <a:srgbClr val="1B2433"/>
                </a:solidFill>
                <a:latin typeface="+mn-lt"/>
              </a:rPr>
              <a:t>자재별 예측 정확도 </a:t>
            </a:r>
            <a:r>
              <a:rPr lang="en-US" altLang="ko-KR" sz="1400" b="0" i="0" u="none" strike="noStrike">
                <a:solidFill>
                  <a:srgbClr val="1B2433"/>
                </a:solidFill>
                <a:latin typeface="+mn-lt"/>
              </a:rPr>
              <a:t>(%, </a:t>
            </a:r>
            <a:r>
              <a:rPr lang="ko-KR" altLang="en-US" sz="1400" b="0" i="0" u="none" strike="noStrike">
                <a:solidFill>
                  <a:srgbClr val="1B2433"/>
                </a:solidFill>
                <a:latin typeface="+mn-lt"/>
              </a:rPr>
              <a:t>축은 </a:t>
            </a:r>
            <a:r>
              <a:rPr lang="en-US" altLang="ko-KR" sz="1400" b="0" i="0" u="none" strike="noStrike">
                <a:solidFill>
                  <a:srgbClr val="1B2433"/>
                </a:solidFill>
                <a:latin typeface="+mn-lt"/>
              </a:rPr>
              <a:t>80</a:t>
            </a:r>
            <a:r>
              <a:rPr lang="ko-KR" altLang="en-US" sz="1400" b="0" i="0" u="none" strike="noStrike">
                <a:solidFill>
                  <a:srgbClr val="1B2433"/>
                </a:solidFill>
                <a:latin typeface="+mn-lt"/>
              </a:rPr>
              <a:t>부터</a:t>
            </a:r>
            <a:r>
              <a:rPr lang="en-US" altLang="ko-KR" sz="1400" b="0" i="0" u="none" strike="noStrike">
                <a:solidFill>
                  <a:srgbClr val="1B2433"/>
                </a:solidFill>
                <a:latin typeface="+mn-lt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정확도(%)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33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개폐기</c:v>
                </c:pt>
                <c:pt idx="1">
                  <c:v>변압기</c:v>
                </c:pt>
                <c:pt idx="2">
                  <c:v>차단기</c:v>
                </c:pt>
                <c:pt idx="3">
                  <c:v>전력케이블</c:v>
                </c:pt>
                <c:pt idx="4">
                  <c:v>피뢰기</c:v>
                </c:pt>
                <c:pt idx="5">
                  <c:v>단로기</c:v>
                </c:pt>
                <c:pt idx="6">
                  <c:v>전력퓨즈</c:v>
                </c:pt>
                <c:pt idx="7">
                  <c:v>배전반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94.6</c:v>
                </c:pt>
                <c:pt idx="1">
                  <c:v>94.8</c:v>
                </c:pt>
                <c:pt idx="2">
                  <c:v>92.7</c:v>
                </c:pt>
                <c:pt idx="3">
                  <c:v>90.9</c:v>
                </c:pt>
                <c:pt idx="4">
                  <c:v>91.1</c:v>
                </c:pt>
                <c:pt idx="5">
                  <c:v>89.5</c:v>
                </c:pt>
                <c:pt idx="6">
                  <c:v>92.3</c:v>
                </c:pt>
                <c:pt idx="7">
                  <c:v>95.3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91-4AE5-88D4-1697A536D7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6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3"/>
                </a:solidFill>
                <a:latin typeface="+mn-lt"/>
              </a:defRPr>
            </a:pPr>
            <a:r>
              <a:rPr lang="ko-KR" altLang="en-US" sz="1400" b="0" i="0" u="none" strike="noStrike">
                <a:solidFill>
                  <a:srgbClr val="1B2433"/>
                </a:solidFill>
                <a:latin typeface="+mn-lt"/>
              </a:rPr>
              <a:t>월별 수요 합계 </a:t>
            </a:r>
            <a:r>
              <a:rPr lang="en-US" altLang="ko-KR" sz="1400" b="0" i="0" u="none" strike="noStrike">
                <a:solidFill>
                  <a:srgbClr val="1B2433"/>
                </a:solidFill>
                <a:latin typeface="+mn-lt"/>
              </a:rPr>
              <a:t>(2024.01~2026.12)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실적</c:v>
                </c:pt>
              </c:strCache>
            </c:strRef>
          </c:tx>
          <c:spPr>
            <a:ln w="38100" cap="flat">
              <a:solidFill>
                <a:srgbClr val="1F6FE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24.01</c:v>
                </c:pt>
                <c:pt idx="1">
                  <c:v>24.02</c:v>
                </c:pt>
                <c:pt idx="2">
                  <c:v>24.03</c:v>
                </c:pt>
                <c:pt idx="3">
                  <c:v>24.04</c:v>
                </c:pt>
                <c:pt idx="4">
                  <c:v>24.05</c:v>
                </c:pt>
                <c:pt idx="5">
                  <c:v>24.06</c:v>
                </c:pt>
                <c:pt idx="6">
                  <c:v>24.07</c:v>
                </c:pt>
                <c:pt idx="7">
                  <c:v>24.08</c:v>
                </c:pt>
                <c:pt idx="8">
                  <c:v>24.09</c:v>
                </c:pt>
                <c:pt idx="9">
                  <c:v>24.10</c:v>
                </c:pt>
                <c:pt idx="10">
                  <c:v>24.11</c:v>
                </c:pt>
                <c:pt idx="11">
                  <c:v>24.12</c:v>
                </c:pt>
                <c:pt idx="12">
                  <c:v>25.01</c:v>
                </c:pt>
                <c:pt idx="13">
                  <c:v>25.02</c:v>
                </c:pt>
                <c:pt idx="14">
                  <c:v>25.03</c:v>
                </c:pt>
                <c:pt idx="15">
                  <c:v>25.04</c:v>
                </c:pt>
                <c:pt idx="16">
                  <c:v>25.05</c:v>
                </c:pt>
                <c:pt idx="17">
                  <c:v>25.06</c:v>
                </c:pt>
                <c:pt idx="18">
                  <c:v>25.07</c:v>
                </c:pt>
                <c:pt idx="19">
                  <c:v>25.08</c:v>
                </c:pt>
                <c:pt idx="20">
                  <c:v>25.09</c:v>
                </c:pt>
                <c:pt idx="21">
                  <c:v>25.10</c:v>
                </c:pt>
                <c:pt idx="22">
                  <c:v>25.11</c:v>
                </c:pt>
                <c:pt idx="23">
                  <c:v>25.12</c:v>
                </c:pt>
                <c:pt idx="24">
                  <c:v>26.01</c:v>
                </c:pt>
                <c:pt idx="25">
                  <c:v>26.02</c:v>
                </c:pt>
                <c:pt idx="26">
                  <c:v>26.03</c:v>
                </c:pt>
                <c:pt idx="27">
                  <c:v>26.04</c:v>
                </c:pt>
                <c:pt idx="28">
                  <c:v>26.05</c:v>
                </c:pt>
                <c:pt idx="29">
                  <c:v>26.06</c:v>
                </c:pt>
                <c:pt idx="30">
                  <c:v>26.07</c:v>
                </c:pt>
                <c:pt idx="31">
                  <c:v>26.08</c:v>
                </c:pt>
                <c:pt idx="32">
                  <c:v>26.09</c:v>
                </c:pt>
                <c:pt idx="33">
                  <c:v>26.10</c:v>
                </c:pt>
                <c:pt idx="34">
                  <c:v>26.11</c:v>
                </c:pt>
                <c:pt idx="35">
                  <c:v>26.12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2326</c:v>
                </c:pt>
                <c:pt idx="1">
                  <c:v>2451</c:v>
                </c:pt>
                <c:pt idx="2">
                  <c:v>2463</c:v>
                </c:pt>
                <c:pt idx="3">
                  <c:v>2537</c:v>
                </c:pt>
                <c:pt idx="4">
                  <c:v>2628</c:v>
                </c:pt>
                <c:pt idx="5">
                  <c:v>2378</c:v>
                </c:pt>
                <c:pt idx="6">
                  <c:v>2310</c:v>
                </c:pt>
                <c:pt idx="7">
                  <c:v>2406</c:v>
                </c:pt>
                <c:pt idx="8">
                  <c:v>2141</c:v>
                </c:pt>
                <c:pt idx="9">
                  <c:v>2227</c:v>
                </c:pt>
                <c:pt idx="10">
                  <c:v>2249</c:v>
                </c:pt>
                <c:pt idx="11">
                  <c:v>2290</c:v>
                </c:pt>
                <c:pt idx="12">
                  <c:v>2428</c:v>
                </c:pt>
                <c:pt idx="13">
                  <c:v>2555</c:v>
                </c:pt>
                <c:pt idx="14">
                  <c:v>2722</c:v>
                </c:pt>
                <c:pt idx="15">
                  <c:v>2666</c:v>
                </c:pt>
                <c:pt idx="16">
                  <c:v>2720</c:v>
                </c:pt>
                <c:pt idx="17">
                  <c:v>2486</c:v>
                </c:pt>
                <c:pt idx="18">
                  <c:v>2423</c:v>
                </c:pt>
                <c:pt idx="19">
                  <c:v>2396</c:v>
                </c:pt>
                <c:pt idx="20">
                  <c:v>2276</c:v>
                </c:pt>
                <c:pt idx="21">
                  <c:v>2194</c:v>
                </c:pt>
                <c:pt idx="22">
                  <c:v>2420</c:v>
                </c:pt>
                <c:pt idx="23">
                  <c:v>2291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4A-4B7C-8F80-FA51CBB354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예측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24.01</c:v>
                </c:pt>
                <c:pt idx="1">
                  <c:v>24.02</c:v>
                </c:pt>
                <c:pt idx="2">
                  <c:v>24.03</c:v>
                </c:pt>
                <c:pt idx="3">
                  <c:v>24.04</c:v>
                </c:pt>
                <c:pt idx="4">
                  <c:v>24.05</c:v>
                </c:pt>
                <c:pt idx="5">
                  <c:v>24.06</c:v>
                </c:pt>
                <c:pt idx="6">
                  <c:v>24.07</c:v>
                </c:pt>
                <c:pt idx="7">
                  <c:v>24.08</c:v>
                </c:pt>
                <c:pt idx="8">
                  <c:v>24.09</c:v>
                </c:pt>
                <c:pt idx="9">
                  <c:v>24.10</c:v>
                </c:pt>
                <c:pt idx="10">
                  <c:v>24.11</c:v>
                </c:pt>
                <c:pt idx="11">
                  <c:v>24.12</c:v>
                </c:pt>
                <c:pt idx="12">
                  <c:v>25.01</c:v>
                </c:pt>
                <c:pt idx="13">
                  <c:v>25.02</c:v>
                </c:pt>
                <c:pt idx="14">
                  <c:v>25.03</c:v>
                </c:pt>
                <c:pt idx="15">
                  <c:v>25.04</c:v>
                </c:pt>
                <c:pt idx="16">
                  <c:v>25.05</c:v>
                </c:pt>
                <c:pt idx="17">
                  <c:v>25.06</c:v>
                </c:pt>
                <c:pt idx="18">
                  <c:v>25.07</c:v>
                </c:pt>
                <c:pt idx="19">
                  <c:v>25.08</c:v>
                </c:pt>
                <c:pt idx="20">
                  <c:v>25.09</c:v>
                </c:pt>
                <c:pt idx="21">
                  <c:v>25.10</c:v>
                </c:pt>
                <c:pt idx="22">
                  <c:v>25.11</c:v>
                </c:pt>
                <c:pt idx="23">
                  <c:v>25.12</c:v>
                </c:pt>
                <c:pt idx="24">
                  <c:v>26.01</c:v>
                </c:pt>
                <c:pt idx="25">
                  <c:v>26.02</c:v>
                </c:pt>
                <c:pt idx="26">
                  <c:v>26.03</c:v>
                </c:pt>
                <c:pt idx="27">
                  <c:v>26.04</c:v>
                </c:pt>
                <c:pt idx="28">
                  <c:v>26.05</c:v>
                </c:pt>
                <c:pt idx="29">
                  <c:v>26.06</c:v>
                </c:pt>
                <c:pt idx="30">
                  <c:v>26.07</c:v>
                </c:pt>
                <c:pt idx="31">
                  <c:v>26.08</c:v>
                </c:pt>
                <c:pt idx="32">
                  <c:v>26.09</c:v>
                </c:pt>
                <c:pt idx="33">
                  <c:v>26.10</c:v>
                </c:pt>
                <c:pt idx="34">
                  <c:v>26.11</c:v>
                </c:pt>
                <c:pt idx="35">
                  <c:v>26.12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23">
                  <c:v>2291</c:v>
                </c:pt>
                <c:pt idx="24">
                  <c:v>2409</c:v>
                </c:pt>
                <c:pt idx="25">
                  <c:v>2540</c:v>
                </c:pt>
                <c:pt idx="26">
                  <c:v>2614</c:v>
                </c:pt>
                <c:pt idx="27">
                  <c:v>2666</c:v>
                </c:pt>
                <c:pt idx="28">
                  <c:v>2637</c:v>
                </c:pt>
                <c:pt idx="29">
                  <c:v>2562</c:v>
                </c:pt>
                <c:pt idx="30">
                  <c:v>2413</c:v>
                </c:pt>
                <c:pt idx="31">
                  <c:v>2401</c:v>
                </c:pt>
                <c:pt idx="32">
                  <c:v>2248</c:v>
                </c:pt>
                <c:pt idx="33">
                  <c:v>2240</c:v>
                </c:pt>
                <c:pt idx="34">
                  <c:v>2340</c:v>
                </c:pt>
                <c:pt idx="35">
                  <c:v>2321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4A-4B7C-8F80-FA51CBB35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6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00"/>
          <c:min val="180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46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08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기자재 AI 수요예측 시스템 MVP의 구축 결과와, 앞으로 고도화할 방향을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수요예측, 재고 판단, 시뮬레이션, 위험 설명이 하나의 웹 화면으로 연결됩니다. 데이터는 Supabase와 Neo4j, 요약은 OpenAI, 계산은 FastAPI 서버가 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머신러닝 모델은 쓰지 않았습니다. 자재별 월 수요 48개월로 직선 추세와 월별 계절지수를 구하고 곱하는 통계적 분해 방식입니다. 피처는 시간 순번과 달력 월 두 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2022~2024년으로 모델을 맞추고 2025년 12개월을 예측해 실제값과 비교했습니다. 자재별 정확도는 89.5%에서 95.3%입니다. 오른쪽은 8개 자재를 합산한 월별 추이입니다.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적정재고, 재고 상태, 예상 소진일, 권장 발주량 네 가지입니다. 아래 전력퓨즈 예시는 실제 데이터로 계산한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수요 변동률과 납기 지연일을 입력하면, 월별로 수요, 목표재고, 발주, 입고를 다시 계산해 결품을 보여줍니다. 오른쪽은 4개 프리셋 시나리오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 상승이나 외부 리스크가 어떤 기자재와 어떤 공사에 영향을 주는지를 지식그래프로 찾고, LLM이 4줄로 짧게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MVP에서 의도적으로 단순하게 둔 부분과 개선 방향입니다. 관리자 페이지와 실데이터 전환을 가장 먼저 권장합니다.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6949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CADCFC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</a:rPr>
              <a:t>기자재 AI 수요예측 시스템  ·  youngmind.cloud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err="1">
                <a:solidFill>
                  <a:schemeClr val="bg1"/>
                </a:solidFill>
              </a:rPr>
              <a:t>기자재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ko-KR" altLang="en-US" dirty="0"/>
              <a:t>최적 재고관리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</a:rPr>
              <a:t>MVP 구축 결과 및 고도화 방향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</a:rPr>
              <a:t>수요예측  ·  재고관리  ·  시뮬레이션  ·  AI 위험 알림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https://youngmind.cloud</a:t>
            </a:r>
            <a:endParaRPr lang="en-US" sz="1400" dirty="0"/>
          </a:p>
        </p:txBody>
      </p:sp>
      <p:sp>
        <p:nvSpPr>
          <p:cNvPr id="6" name="GraphEdge 0"/>
          <p:cNvSpPr/>
          <p:nvPr/>
        </p:nvSpPr>
        <p:spPr>
          <a:xfrm>
            <a:off x="10104120" y="1874520"/>
            <a:ext cx="1188720" cy="118872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raphEdge 1"/>
          <p:cNvSpPr/>
          <p:nvPr/>
        </p:nvSpPr>
        <p:spPr>
          <a:xfrm flipV="1">
            <a:off x="8869680" y="1874520"/>
            <a:ext cx="1234440" cy="150876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GraphEdge 2"/>
          <p:cNvSpPr/>
          <p:nvPr/>
        </p:nvSpPr>
        <p:spPr>
          <a:xfrm flipV="1">
            <a:off x="9326880" y="1874520"/>
            <a:ext cx="777240" cy="50292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GraphEdge 3"/>
          <p:cNvSpPr/>
          <p:nvPr/>
        </p:nvSpPr>
        <p:spPr>
          <a:xfrm flipV="1">
            <a:off x="10515600" y="3063240"/>
            <a:ext cx="777240" cy="160020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raphEdge 4"/>
          <p:cNvSpPr/>
          <p:nvPr/>
        </p:nvSpPr>
        <p:spPr>
          <a:xfrm>
            <a:off x="8869680" y="3383280"/>
            <a:ext cx="1645920" cy="128016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GraphEdge 5"/>
          <p:cNvSpPr/>
          <p:nvPr/>
        </p:nvSpPr>
        <p:spPr>
          <a:xfrm>
            <a:off x="10515600" y="4663440"/>
            <a:ext cx="868680" cy="68580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GraphEdge 6"/>
          <p:cNvSpPr/>
          <p:nvPr/>
        </p:nvSpPr>
        <p:spPr>
          <a:xfrm flipV="1">
            <a:off x="8503920" y="4663440"/>
            <a:ext cx="2011680" cy="73152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GraphEdge 7"/>
          <p:cNvSpPr/>
          <p:nvPr/>
        </p:nvSpPr>
        <p:spPr>
          <a:xfrm flipV="1">
            <a:off x="8869680" y="2377440"/>
            <a:ext cx="457200" cy="1005840"/>
          </a:xfrm>
          <a:prstGeom prst="line">
            <a:avLst/>
          </a:prstGeom>
          <a:noFill/>
          <a:ln w="19050">
            <a:solidFill>
              <a:srgbClr val="5B7BA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GraphNode 0"/>
          <p:cNvSpPr/>
          <p:nvPr/>
        </p:nvSpPr>
        <p:spPr>
          <a:xfrm>
            <a:off x="9692640" y="146304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GraphNode 1"/>
          <p:cNvSpPr/>
          <p:nvPr/>
        </p:nvSpPr>
        <p:spPr>
          <a:xfrm>
            <a:off x="10972800" y="274320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GraphNode 2"/>
          <p:cNvSpPr/>
          <p:nvPr/>
        </p:nvSpPr>
        <p:spPr>
          <a:xfrm>
            <a:off x="8503920" y="3017520"/>
            <a:ext cx="731520" cy="73152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GraphNode 3"/>
          <p:cNvSpPr/>
          <p:nvPr/>
        </p:nvSpPr>
        <p:spPr>
          <a:xfrm>
            <a:off x="10058400" y="420624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GraphNode 4"/>
          <p:cNvSpPr/>
          <p:nvPr/>
        </p:nvSpPr>
        <p:spPr>
          <a:xfrm>
            <a:off x="11155680" y="5120640"/>
            <a:ext cx="457200" cy="45720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GraphNode 5"/>
          <p:cNvSpPr/>
          <p:nvPr/>
        </p:nvSpPr>
        <p:spPr>
          <a:xfrm>
            <a:off x="8229600" y="5120640"/>
            <a:ext cx="548640" cy="54864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GraphNode 6"/>
          <p:cNvSpPr/>
          <p:nvPr/>
        </p:nvSpPr>
        <p:spPr>
          <a:xfrm>
            <a:off x="9144000" y="2194560"/>
            <a:ext cx="365760" cy="3657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시스템 개요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개요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54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8종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대상 기자재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3364992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3593592" y="1554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12개월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93592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2026년 월별 예측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181344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9944" y="1554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89.5~95.3%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09944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백테스트 정확도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997696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226296" y="1554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8건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226296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AI 위험 알림</a:t>
            </a:r>
            <a:endParaRPr lang="en-US" sz="1500" dirty="0"/>
          </a:p>
        </p:txBody>
      </p:sp>
      <p:sp>
        <p:nvSpPr>
          <p:cNvPr id="17" name="Column"/>
          <p:cNvSpPr/>
          <p:nvPr/>
        </p:nvSpPr>
        <p:spPr>
          <a:xfrm>
            <a:off x="548640" y="3108960"/>
            <a:ext cx="33832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229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데이터 · AI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Supabase: 수요·발주·재고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Neo4j: 위험 지식그래프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OpenAI: 위험 4줄 요약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>
            <a:off x="3986784" y="4251960"/>
            <a:ext cx="34747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Column"/>
          <p:cNvSpPr/>
          <p:nvPr/>
        </p:nvSpPr>
        <p:spPr>
          <a:xfrm>
            <a:off x="4389120" y="3108960"/>
            <a:ext cx="338328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466344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 서버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수요예측 (추세 × 계절지수)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재고·발주 관리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시나리오 시뮬레이션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위험 분석·요약</a:t>
            </a:r>
            <a:endParaRPr lang="en-US" sz="1500" dirty="0"/>
          </a:p>
        </p:txBody>
      </p:sp>
      <p:sp>
        <p:nvSpPr>
          <p:cNvPr id="24" name="Arrow"/>
          <p:cNvSpPr/>
          <p:nvPr/>
        </p:nvSpPr>
        <p:spPr>
          <a:xfrm>
            <a:off x="7827264" y="4251960"/>
            <a:ext cx="34747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olumn"/>
          <p:cNvSpPr/>
          <p:nvPr/>
        </p:nvSpPr>
        <p:spPr>
          <a:xfrm>
            <a:off x="8229600" y="3108960"/>
            <a:ext cx="33832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50392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React 웹 화면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대시보드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수요예측 · 발주 · 재고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시뮬레이션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데이터 관리 · 설정</a:t>
            </a:r>
            <a:endParaRPr lang="en-US" sz="1500" dirty="0"/>
          </a:p>
        </p:txBody>
      </p:sp>
      <p:sp>
        <p:nvSpPr>
          <p:cNvPr id="28" name="InfraBar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AWS EC2 · nginx · Let's Encrypt HTTPS  —  https://youngmind.cloud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수요예측 모델: 선형 추세 × 계절지수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수요예측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Badge"/>
          <p:cNvSpPr/>
          <p:nvPr/>
        </p:nvSpPr>
        <p:spPr>
          <a:xfrm>
            <a:off x="713232" y="16276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1323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6642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입력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자재별 월 수요 48개월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(2022-01~2025-12)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090672" y="2258568"/>
            <a:ext cx="283464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ard"/>
          <p:cNvSpPr/>
          <p:nvPr/>
        </p:nvSpPr>
        <p:spPr>
          <a:xfrm>
            <a:off x="3401568" y="146304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Badge"/>
          <p:cNvSpPr/>
          <p:nvPr/>
        </p:nvSpPr>
        <p:spPr>
          <a:xfrm>
            <a:off x="3566160" y="16276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56616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087368" y="16642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추세 적합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630168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최소제곱 직선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 = a + b·t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5943600" y="2258568"/>
            <a:ext cx="283464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ard"/>
          <p:cNvSpPr/>
          <p:nvPr/>
        </p:nvSpPr>
        <p:spPr>
          <a:xfrm>
            <a:off x="6254496" y="146304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Badge"/>
          <p:cNvSpPr/>
          <p:nvPr/>
        </p:nvSpPr>
        <p:spPr>
          <a:xfrm>
            <a:off x="6419088" y="16276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41908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940296" y="16642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계절지수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483096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월별 실적÷추세의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평균, 12개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8796528" y="2258568"/>
            <a:ext cx="283464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ard"/>
          <p:cNvSpPr/>
          <p:nvPr/>
        </p:nvSpPr>
        <p:spPr>
          <a:xfrm>
            <a:off x="9107424" y="1463040"/>
            <a:ext cx="2514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Badge"/>
          <p:cNvSpPr/>
          <p:nvPr/>
        </p:nvSpPr>
        <p:spPr>
          <a:xfrm>
            <a:off x="9272016" y="16276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9272016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793224" y="16642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예측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9336024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추세 × 계절지수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2026년 12개월</a:t>
            </a:r>
            <a:endParaRPr lang="en-US" sz="1400" dirty="0"/>
          </a:p>
        </p:txBody>
      </p:sp>
      <p:sp>
        <p:nvSpPr>
          <p:cNvPr id="28" name="Formula"/>
          <p:cNvSpPr/>
          <p:nvPr/>
        </p:nvSpPr>
        <p:spPr>
          <a:xfrm>
            <a:off x="548640" y="33375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337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예측(월) = ( a + b · t ) × 계절지수(월)</a:t>
            </a:r>
            <a:endParaRPr lang="en-US" sz="2600" dirty="0"/>
          </a:p>
        </p:txBody>
      </p:sp>
      <p:sp>
        <p:nvSpPr>
          <p:cNvPr id="30" name="Card"/>
          <p:cNvSpPr/>
          <p:nvPr/>
        </p:nvSpPr>
        <p:spPr>
          <a:xfrm>
            <a:off x="548640" y="443484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82296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사용한 피처 (2개)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시간 순번 t — 장기 증가·감소 추세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달력 월(1~12) — 반복되는 계절 패턴</a:t>
            </a:r>
            <a:endParaRPr lang="en-US" sz="1600" dirty="0"/>
          </a:p>
        </p:txBody>
      </p:sp>
      <p:sp>
        <p:nvSpPr>
          <p:cNvPr id="33" name="Card"/>
          <p:cNvSpPr/>
          <p:nvPr/>
        </p:nvSpPr>
        <p:spPr>
          <a:xfrm>
            <a:off x="6172200" y="443484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FF6E3"/>
          </a:solidFill>
          <a:ln w="9525">
            <a:solidFill>
              <a:srgbClr val="F5D78E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644652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XGBoost·랜덤포레스트 등 ML은 미사용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6446520" y="5029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자재당 데이터가 48개월뿐이라 해석이 쉬운 통계 모델로 시작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외생변수 추가 후 ML 모델과 비교 검증 예정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예측 결과와 검증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수요예측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53949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172200" y="1371600"/>
          <a:ext cx="54406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Card"/>
          <p:cNvSpPr/>
          <p:nvPr/>
        </p:nvSpPr>
        <p:spPr>
          <a:xfrm>
            <a:off x="548640" y="534924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/>
          <p:cNvSpPr txBox="1"/>
          <p:nvPr/>
        </p:nvSpPr>
        <p:spPr>
          <a:xfrm>
            <a:off x="77724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29,391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2468880" y="5394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2026년 예측 합계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297680" y="534924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452628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29,577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6217920" y="5394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2025년 실적 합계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534924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827532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-0.6%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9966960" y="5394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전년 대비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재고관리 로직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재고관리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Icon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con FaWarehous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적정 재고</a:t>
            </a:r>
            <a:endParaRPr lang="en-US" sz="1800" dirty="0"/>
          </a:p>
        </p:txBody>
      </p:sp>
      <p:sp>
        <p:nvSpPr>
          <p:cNvPr id="9" name="FormulaBox"/>
          <p:cNvSpPr/>
          <p:nvPr/>
        </p:nvSpPr>
        <p:spPr>
          <a:xfrm>
            <a:off x="731520" y="2468880"/>
            <a:ext cx="2240280" cy="146304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841248" y="2542032"/>
            <a:ext cx="2020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최근 12개월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평균 월수요 × 1.5개월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364992" y="141732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IconCircle"/>
          <p:cNvSpPr/>
          <p:nvPr/>
        </p:nvSpPr>
        <p:spPr>
          <a:xfrm>
            <a:off x="3593592" y="160020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con FaBalanceScal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013" y="17666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70832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재고 상태</a:t>
            </a:r>
            <a:endParaRPr lang="en-US" sz="1800" dirty="0"/>
          </a:p>
        </p:txBody>
      </p:sp>
      <p:sp>
        <p:nvSpPr>
          <p:cNvPr id="15" name="FormulaBox"/>
          <p:cNvSpPr/>
          <p:nvPr/>
        </p:nvSpPr>
        <p:spPr>
          <a:xfrm>
            <a:off x="3547872" y="2468880"/>
            <a:ext cx="2240280" cy="146304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3657600" y="2542032"/>
            <a:ext cx="2020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현재고 ≥ 적정 → 여유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≥ 50% → 부족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&lt; 50% → 위험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181344" y="141732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IconCircle"/>
          <p:cNvSpPr/>
          <p:nvPr/>
        </p:nvSpPr>
        <p:spPr>
          <a:xfrm>
            <a:off x="6409944" y="160020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con FaHourglassHalf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65" y="176662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87184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예상 소진일</a:t>
            </a:r>
            <a:endParaRPr lang="en-US" sz="1800" dirty="0"/>
          </a:p>
        </p:txBody>
      </p:sp>
      <p:sp>
        <p:nvSpPr>
          <p:cNvPr id="21" name="FormulaBox"/>
          <p:cNvSpPr/>
          <p:nvPr/>
        </p:nvSpPr>
        <p:spPr>
          <a:xfrm>
            <a:off x="6364224" y="2468880"/>
            <a:ext cx="2240280" cy="146304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6473952" y="2542032"/>
            <a:ext cx="2020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현재고 ÷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(다음 달 예측 수요 ÷ 30)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997696" y="141732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IconCircle"/>
          <p:cNvSpPr/>
          <p:nvPr/>
        </p:nvSpPr>
        <p:spPr>
          <a:xfrm>
            <a:off x="9226296" y="160020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con FaShoppingCar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2717" y="176662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36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권장 발주량</a:t>
            </a:r>
            <a:endParaRPr lang="en-US" sz="1800" dirty="0"/>
          </a:p>
        </p:txBody>
      </p:sp>
      <p:sp>
        <p:nvSpPr>
          <p:cNvPr id="27" name="FormulaBox"/>
          <p:cNvSpPr/>
          <p:nvPr/>
        </p:nvSpPr>
        <p:spPr>
          <a:xfrm>
            <a:off x="9180576" y="2468880"/>
            <a:ext cx="2240280" cy="146304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9290304" y="2542032"/>
            <a:ext cx="2020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Max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(</a:t>
            </a:r>
            <a:r>
              <a:rPr lang="en-US" sz="1400" b="1" dirty="0" err="1">
                <a:solidFill>
                  <a:schemeClr val="tx2"/>
                </a:solidFill>
              </a:rPr>
              <a:t>적정</a:t>
            </a:r>
            <a:r>
              <a:rPr lang="en-US" sz="1400" b="1" dirty="0">
                <a:solidFill>
                  <a:schemeClr val="tx2"/>
                </a:solidFill>
              </a:rPr>
              <a:t> + 다음 달 수요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− 현재고 − 발주 중)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계산 예시: 전력퓨즈</a:t>
            </a:r>
            <a:endParaRPr lang="en-US" sz="1600" dirty="0"/>
          </a:p>
        </p:txBody>
      </p:sp>
      <p:sp>
        <p:nvSpPr>
          <p:cNvPr id="30" name="Card"/>
          <p:cNvSpPr/>
          <p:nvPr/>
        </p:nvSpPr>
        <p:spPr>
          <a:xfrm>
            <a:off x="548640" y="4846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777240" y="4937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현재 / 적정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5230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147 / 225대</a:t>
            </a:r>
            <a:endParaRPr lang="en-US" sz="24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833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65% → 부족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3364992" y="4846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/>
          <p:cNvSpPr txBox="1"/>
          <p:nvPr/>
        </p:nvSpPr>
        <p:spPr>
          <a:xfrm>
            <a:off x="3593592" y="4937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다음 달 수요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3593592" y="5230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139대</a:t>
            </a:r>
            <a:endParaRPr lang="en-US" sz="2400" dirty="0"/>
          </a:p>
        </p:txBody>
      </p:sp>
      <p:sp>
        <p:nvSpPr>
          <p:cNvPr id="37" name="Text 30"/>
          <p:cNvSpPr txBox="1"/>
          <p:nvPr/>
        </p:nvSpPr>
        <p:spPr>
          <a:xfrm>
            <a:off x="3593592" y="5833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일평균 4.6대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6181344" y="4846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6409944" y="4937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예상 소진일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6409944" y="5230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약 32일</a:t>
            </a:r>
            <a:endParaRPr lang="en-US" sz="2400" dirty="0"/>
          </a:p>
        </p:txBody>
      </p:sp>
      <p:sp>
        <p:nvSpPr>
          <p:cNvPr id="41" name="Text 34"/>
          <p:cNvSpPr txBox="1"/>
          <p:nvPr/>
        </p:nvSpPr>
        <p:spPr>
          <a:xfrm>
            <a:off x="6409944" y="5833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147 ÷ 4.6</a:t>
            </a:r>
            <a:endParaRPr lang="en-US" sz="1300" dirty="0"/>
          </a:p>
        </p:txBody>
      </p:sp>
      <p:sp>
        <p:nvSpPr>
          <p:cNvPr id="42" name="Card"/>
          <p:cNvSpPr/>
          <p:nvPr/>
        </p:nvSpPr>
        <p:spPr>
          <a:xfrm>
            <a:off x="8997696" y="484632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 txBox="1"/>
          <p:nvPr/>
        </p:nvSpPr>
        <p:spPr>
          <a:xfrm>
            <a:off x="9226296" y="4937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권장 발주량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9226296" y="52303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217대</a:t>
            </a:r>
            <a:endParaRPr lang="en-US" sz="2400" dirty="0"/>
          </a:p>
        </p:txBody>
      </p:sp>
      <p:sp>
        <p:nvSpPr>
          <p:cNvPr id="45" name="Text 38"/>
          <p:cNvSpPr txBox="1"/>
          <p:nvPr/>
        </p:nvSpPr>
        <p:spPr>
          <a:xfrm>
            <a:off x="9226296" y="5833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225+139−147−0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시뮬레이션: 수요·납기 변동 시 결품 위험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시뮬레이션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입력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자재 · 기간 · 수요 변동률 · 납기 지연일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월별 반복 계산</a:t>
            </a:r>
            <a:endParaRPr lang="en-US" sz="1600" dirty="0"/>
          </a:p>
        </p:txBody>
      </p:sp>
      <p:sp>
        <p:nvSpPr>
          <p:cNvPr id="9" name="Badge"/>
          <p:cNvSpPr/>
          <p:nvPr/>
        </p:nvSpPr>
        <p:spPr>
          <a:xfrm>
            <a:off x="822960" y="315468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108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수요 = 예측 × (1 + 변동률)</a:t>
            </a:r>
            <a:endParaRPr lang="en-US" sz="1400" dirty="0"/>
          </a:p>
        </p:txBody>
      </p:sp>
      <p:sp>
        <p:nvSpPr>
          <p:cNvPr id="12" name="Badge"/>
          <p:cNvSpPr/>
          <p:nvPr/>
        </p:nvSpPr>
        <p:spPr>
          <a:xfrm>
            <a:off x="822960" y="386791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822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목표재고 = 적정 × (1 + 지연일 ÷ 30)</a:t>
            </a:r>
            <a:endParaRPr lang="en-US" sz="1400" dirty="0"/>
          </a:p>
        </p:txBody>
      </p:sp>
      <p:sp>
        <p:nvSpPr>
          <p:cNvPr id="15" name="Badge"/>
          <p:cNvSpPr/>
          <p:nvPr/>
        </p:nvSpPr>
        <p:spPr>
          <a:xfrm>
            <a:off x="822960" y="458114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45354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발주 = max(</a:t>
            </a:r>
            <a:r>
              <a:rPr lang="en-US" sz="1400" dirty="0" err="1">
                <a:solidFill>
                  <a:schemeClr val="tx1"/>
                </a:solidFill>
              </a:rPr>
              <a:t>수요</a:t>
            </a:r>
            <a:r>
              <a:rPr lang="en-US" sz="1400" dirty="0">
                <a:solidFill>
                  <a:schemeClr val="tx1"/>
                </a:solidFill>
              </a:rPr>
              <a:t> + 목표 − (현재고 + 입고예정))</a:t>
            </a:r>
            <a:endParaRPr lang="en-US" sz="1400" dirty="0"/>
          </a:p>
        </p:txBody>
      </p:sp>
      <p:sp>
        <p:nvSpPr>
          <p:cNvPr id="18" name="Badge"/>
          <p:cNvSpPr/>
          <p:nvPr/>
        </p:nvSpPr>
        <p:spPr>
          <a:xfrm>
            <a:off x="822960" y="529437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2296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52486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입고는 지연일 ÷ 30개월 뒤, 부족분 = 결품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394960" cy="25146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시나리오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수요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지연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발주량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결품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소진일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기준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29,302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30일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수요 급증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+20%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35,180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25일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공급 지연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30일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33,000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30일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</a:rPr>
                        <a:t>복합 위험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+15%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30일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37,387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5483A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B2433"/>
                          </a:solidFill>
                        </a:rPr>
                        <a:t>26일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Card"/>
          <p:cNvSpPr/>
          <p:nvPr/>
        </p:nvSpPr>
        <p:spPr>
          <a:xfrm>
            <a:off x="6217920" y="43434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 w="9525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6446520" y="4526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공급 지연 30일 → 발주량 +3,698 (+12.6%)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안전재고를 더 쌓기 때문입니다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수요 +15%와 지연 30일이 겹칠 때만 결품 21 발생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AI 위험 알림: 지식그래프 + LLM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위험 알림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Badge"/>
          <p:cNvSpPr/>
          <p:nvPr/>
        </p:nvSpPr>
        <p:spPr>
          <a:xfrm>
            <a:off x="685800" y="1581912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지식그래프 조회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Neo4j 경로 탐색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090672" y="1892808"/>
            <a:ext cx="283464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ard"/>
          <p:cNvSpPr/>
          <p:nvPr/>
        </p:nvSpPr>
        <p:spPr>
          <a:xfrm>
            <a:off x="3401568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Badge"/>
          <p:cNvSpPr/>
          <p:nvPr/>
        </p:nvSpPr>
        <p:spPr>
          <a:xfrm>
            <a:off x="3538728" y="1581912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53872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995928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위험도 판정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995928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임계값·심각도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5943600" y="1892808"/>
            <a:ext cx="283464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ard"/>
          <p:cNvSpPr/>
          <p:nvPr/>
        </p:nvSpPr>
        <p:spPr>
          <a:xfrm>
            <a:off x="6254496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Badge"/>
          <p:cNvSpPr/>
          <p:nvPr/>
        </p:nvSpPr>
        <p:spPr>
          <a:xfrm>
            <a:off x="6391656" y="1581912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391656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48856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4줄 자연어 요약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48856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LLM, 40자 내외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8796528" y="1892808"/>
            <a:ext cx="283464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ard"/>
          <p:cNvSpPr/>
          <p:nvPr/>
        </p:nvSpPr>
        <p:spPr>
          <a:xfrm>
            <a:off x="9107424" y="141732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Badge"/>
          <p:cNvSpPr/>
          <p:nvPr/>
        </p:nvSpPr>
        <p:spPr>
          <a:xfrm>
            <a:off x="9244584" y="1581912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9244584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701784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프로젝트별 카드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701784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대시보드 표시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548640" y="2697480"/>
            <a:ext cx="4754880" cy="347472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82296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판정 기준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333756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원자재 가격 (기준가 대비)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+10% 경고 · +15% 위험 · +20% 매우위험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외부 리스크 · 자연재해 (심각도)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높음 → 위험 · 매우높음 → 매우위험</a:t>
            </a:r>
            <a:endParaRPr lang="en-US" sz="1600" dirty="0"/>
          </a:p>
        </p:txBody>
      </p:sp>
      <p:sp>
        <p:nvSpPr>
          <p:cNvPr id="31" name="Card"/>
          <p:cNvSpPr/>
          <p:nvPr/>
        </p:nvSpPr>
        <p:spPr>
          <a:xfrm>
            <a:off x="5577840" y="2697480"/>
            <a:ext cx="6035040" cy="347472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LevelChip"/>
          <p:cNvSpPr/>
          <p:nvPr/>
        </p:nvSpPr>
        <p:spPr>
          <a:xfrm>
            <a:off x="5852160" y="2880360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5852160" y="28803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5F00"/>
                </a:solidFill>
              </a:rPr>
              <a:t>위험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720840" y="28803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강남 변전소 증설공사 · EU 탄소국경조정제도</a:t>
            </a:r>
            <a:endParaRPr lang="en-US" sz="1400" dirty="0"/>
          </a:p>
        </p:txBody>
      </p:sp>
      <p:sp>
        <p:nvSpPr>
          <p:cNvPr id="35" name="LabelChip"/>
          <p:cNvSpPr/>
          <p:nvPr/>
        </p:nvSpPr>
        <p:spPr>
          <a:xfrm>
            <a:off x="5852160" y="34747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585216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위험 원인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406640" y="3474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EU 탄소국경조정제도로 비용 증가 가능성</a:t>
            </a:r>
            <a:endParaRPr lang="en-US" sz="1500" dirty="0"/>
          </a:p>
        </p:txBody>
      </p:sp>
      <p:sp>
        <p:nvSpPr>
          <p:cNvPr id="38" name="LabelChip"/>
          <p:cNvSpPr/>
          <p:nvPr/>
        </p:nvSpPr>
        <p:spPr>
          <a:xfrm>
            <a:off x="5852160" y="41605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5852160" y="4160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기자재 영향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406640" y="4160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알루미늄 가격 상승으로 개폐기 원가 증가</a:t>
            </a:r>
            <a:endParaRPr lang="en-US" sz="1500" dirty="0"/>
          </a:p>
        </p:txBody>
      </p:sp>
      <p:sp>
        <p:nvSpPr>
          <p:cNvPr id="41" name="LabelChip"/>
          <p:cNvSpPr/>
          <p:nvPr/>
        </p:nvSpPr>
        <p:spPr>
          <a:xfrm>
            <a:off x="5852160" y="4846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5852160" y="4846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수급 문제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406640" y="4846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개폐기 수급 차질이 우려되는 상황</a:t>
            </a:r>
            <a:endParaRPr lang="en-US" sz="1500" dirty="0"/>
          </a:p>
        </p:txBody>
      </p:sp>
      <p:sp>
        <p:nvSpPr>
          <p:cNvPr id="44" name="LabelChip"/>
          <p:cNvSpPr/>
          <p:nvPr/>
        </p:nvSpPr>
        <p:spPr>
          <a:xfrm>
            <a:off x="5852160" y="55321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5852160" y="5532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프로젝트 영향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7406640" y="5532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강남 변전소 증설공사에 지연 가능성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현재 한계와 고도화 영역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고도화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IconCircle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con FaUserShiel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1747601"/>
            <a:ext cx="272125" cy="272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6184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관리자·권한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단일 관리자 계정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역할 분리·감사 로그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364992" y="14173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IconCircle"/>
          <p:cNvSpPr/>
          <p:nvPr/>
        </p:nvSpPr>
        <p:spPr>
          <a:xfrm>
            <a:off x="3547872" y="160020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con FaBrai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273" y="174760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33672" y="16184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예측 모델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593592" y="23317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추세·계절 2개 피처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외</a:t>
            </a:r>
            <a:r>
              <a:rPr lang="ko-KR" altLang="en-US" sz="1400" b="1" dirty="0">
                <a:solidFill>
                  <a:schemeClr val="tx2"/>
                </a:solidFill>
              </a:rPr>
              <a:t>부</a:t>
            </a:r>
            <a:r>
              <a:rPr lang="en-US" sz="1400" b="1" dirty="0" err="1">
                <a:solidFill>
                  <a:schemeClr val="tx2"/>
                </a:solidFill>
              </a:rPr>
              <a:t>변수</a:t>
            </a:r>
            <a:r>
              <a:rPr lang="en-US" sz="1400" b="1" dirty="0">
                <a:solidFill>
                  <a:schemeClr val="tx2"/>
                </a:solidFill>
              </a:rPr>
              <a:t> 추가, XGBoost·LightGBM 비교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81344" y="14173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IconCircle"/>
          <p:cNvSpPr/>
          <p:nvPr/>
        </p:nvSpPr>
        <p:spPr>
          <a:xfrm>
            <a:off x="6364224" y="160020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con FaBoxe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625" y="174760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50024" y="16184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재고·발주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409944" y="23317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평균 × 1.5개월 고정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서비스수준 기반 안전재고, 발주 승인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997696" y="14173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IconCircle"/>
          <p:cNvSpPr/>
          <p:nvPr/>
        </p:nvSpPr>
        <p:spPr>
          <a:xfrm>
            <a:off x="9180576" y="160020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con FaSlidersH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977" y="1747601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866376" y="16184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시뮬레이션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226296" y="23317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비용·공급사 미반영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ko-KR" altLang="en-US" sz="1400" b="1" dirty="0">
                <a:solidFill>
                  <a:schemeClr val="tx2"/>
                </a:solidFill>
              </a:rPr>
              <a:t>영향변수 반영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548640" y="39319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IconCircle"/>
          <p:cNvSpPr/>
          <p:nvPr/>
        </p:nvSpPr>
        <p:spPr>
          <a:xfrm>
            <a:off x="731520" y="411480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con FaProjectDiagram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921" y="4262201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17320" y="41330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위험 알림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48463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수동 조회형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자동 수집·알림 발송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3364992" y="39319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IconCircle"/>
          <p:cNvSpPr/>
          <p:nvPr/>
        </p:nvSpPr>
        <p:spPr>
          <a:xfrm>
            <a:off x="3547872" y="411480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con FaPlug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5273" y="4262201"/>
            <a:ext cx="272125" cy="27212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233672" y="41330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데이터·연동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3593592" y="48463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가상·샘플 데이터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ERP·AMS 연동, 실데이터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6181344" y="39319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IconCircle"/>
          <p:cNvSpPr/>
          <p:nvPr/>
        </p:nvSpPr>
        <p:spPr>
          <a:xfrm>
            <a:off x="6364224" y="411480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con FaShieldAlt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1625" y="4262201"/>
            <a:ext cx="272125" cy="27212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050024" y="41330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인프라·보안</a:t>
            </a:r>
            <a:endParaRPr lang="en-US" sz="1600" dirty="0"/>
          </a:p>
        </p:txBody>
      </p:sp>
      <p:sp>
        <p:nvSpPr>
          <p:cNvPr id="39" name="Text 29"/>
          <p:cNvSpPr txBox="1"/>
          <p:nvPr/>
        </p:nvSpPr>
        <p:spPr>
          <a:xfrm>
            <a:off x="6409944" y="48463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단일 서버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CI/CD·모니터링·백업·MFA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8997696" y="3931920"/>
            <a:ext cx="260604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rgbClr val="E3E8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IconCircle"/>
          <p:cNvSpPr/>
          <p:nvPr/>
        </p:nvSpPr>
        <p:spPr>
          <a:xfrm>
            <a:off x="9180576" y="411480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con FaFileExport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977" y="4262201"/>
            <a:ext cx="272125" cy="27212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866376" y="41330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사용성</a:t>
            </a:r>
            <a:endParaRPr lang="en-US" sz="1600" dirty="0"/>
          </a:p>
        </p:txBody>
      </p:sp>
      <p:sp>
        <p:nvSpPr>
          <p:cNvPr id="44" name="Text 33"/>
          <p:cNvSpPr txBox="1"/>
          <p:nvPr/>
        </p:nvSpPr>
        <p:spPr>
          <a:xfrm>
            <a:off x="9226296" y="484632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7A90"/>
                </a:solidFill>
              </a:rPr>
              <a:t>현재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화면 조회 중심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6FEB"/>
                </a:solidFill>
              </a:rPr>
              <a:t>개선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보고서·엑셀·모바일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Navy">
  <a:themeElements>
    <a:clrScheme name="GridNavy">
      <a:dk1>
        <a:srgbClr val="1B2433"/>
      </a:dk1>
      <a:lt1>
        <a:srgbClr val="FFFFFF"/>
      </a:lt1>
      <a:dk2>
        <a:srgbClr val="0B1F3A"/>
      </a:dk2>
      <a:lt2>
        <a:srgbClr val="F4F6FA"/>
      </a:lt2>
      <a:accent1>
        <a:srgbClr val="1F6FEB"/>
      </a:accent1>
      <a:accent2>
        <a:srgbClr val="F5A623"/>
      </a:accent2>
      <a:accent3>
        <a:srgbClr val="1C7293"/>
      </a:accent3>
      <a:accent4>
        <a:srgbClr val="E5483A"/>
      </a:accent4>
      <a:accent5>
        <a:srgbClr val="1FA971"/>
      </a:accent5>
      <a:accent6>
        <a:srgbClr val="6B7A90"/>
      </a:accent6>
      <a:hlink>
        <a:srgbClr val="1F6FEB"/>
      </a:hlink>
      <a:folHlink>
        <a:srgbClr val="6B7A90"/>
      </a:folHlink>
    </a:clrScheme>
    <a:fontScheme name="GridNav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922</Words>
  <Application>Microsoft Office PowerPoint</Application>
  <PresentationFormat>와이드스크린</PresentationFormat>
  <Paragraphs>234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Malgun Gothic</vt:lpstr>
      <vt:lpstr>Arial</vt:lpstr>
      <vt:lpstr>GridNavy</vt:lpstr>
      <vt:lpstr>기자재 최적 재고관리</vt:lpstr>
      <vt:lpstr>시스템 개요</vt:lpstr>
      <vt:lpstr>수요예측 모델: 선형 추세 × 계절지수</vt:lpstr>
      <vt:lpstr>예측 결과와 검증</vt:lpstr>
      <vt:lpstr>재고관리 로직</vt:lpstr>
      <vt:lpstr>시뮬레이션: 수요·납기 변동 시 결품 위험</vt:lpstr>
      <vt:lpstr>AI 위험 알림: 지식그래프 + LLM</vt:lpstr>
      <vt:lpstr>현재 한계와 고도화 영역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기자재 AI 수요예측 시스템 — MVP 구축 결과 및 고도화 방향</dc:title>
  <dc:subject>PptxGenJS Presentation</dc:subject>
  <dc:creator>Claude Code</dc:creator>
  <cp:lastModifiedBy>고원영[컴퓨터정보공학과]</cp:lastModifiedBy>
  <cp:revision>2</cp:revision>
  <dcterms:created xsi:type="dcterms:W3CDTF">2026-10-12T06:50:04Z</dcterms:created>
  <dcterms:modified xsi:type="dcterms:W3CDTF">2026-10-12T10:37:29Z</dcterms:modified>
</cp:coreProperties>
</file>