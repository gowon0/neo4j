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2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3" d="100"/>
          <a:sy n="83" d="100"/>
        </p:scale>
        <p:origin x="65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진행 상태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FA971"/>
              </a:solidFill>
              <a:ln w="25400" cap="flat">
                <a:solidFill>
                  <a:srgbClr val="F4F6FA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1-32EB-42EA-9CB4-8BB081CC1C0C}"/>
              </c:ext>
            </c:extLst>
          </c:dPt>
          <c:dPt>
            <c:idx val="1"/>
            <c:bubble3D val="0"/>
            <c:spPr>
              <a:solidFill>
                <a:srgbClr val="F5A623"/>
              </a:solidFill>
              <a:ln w="25400" cap="flat">
                <a:solidFill>
                  <a:srgbClr val="F4F6FA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3-32EB-42EA-9CB4-8BB081CC1C0C}"/>
              </c:ext>
            </c:extLst>
          </c:dPt>
          <c:dPt>
            <c:idx val="2"/>
            <c:bubble3D val="0"/>
            <c:spPr>
              <a:solidFill>
                <a:srgbClr val="B8C2D3"/>
              </a:solidFill>
              <a:ln w="25400" cap="flat">
                <a:solidFill>
                  <a:srgbClr val="F4F6FA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5-32EB-42EA-9CB4-8BB081CC1C0C}"/>
              </c:ext>
            </c:extLst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600" b="1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  <a:endParaRPr lang="ko-K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32EB-42EA-9CB4-8BB081CC1C0C}"/>
                </c:ext>
              </c:extLst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600" b="1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  <a:endParaRPr lang="ko-K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32EB-42EA-9CB4-8BB081CC1C0C}"/>
                </c:ext>
              </c:extLst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600" b="1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  <a:endParaRPr lang="ko-K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32EB-42EA-9CB4-8BB081CC1C0C}"/>
                </c:ext>
              </c:extLst>
            </c:dLbl>
            <c:numFmt formatCode="General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ko-KR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구현·배포 완료</c:v>
                </c:pt>
                <c:pt idx="1">
                  <c:v>부분 구현</c:v>
                </c:pt>
                <c:pt idx="2">
                  <c:v>미착수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</c:v>
                </c:pt>
                <c:pt idx="1">
                  <c:v>3</c:v>
                </c:pt>
                <c:pt idx="2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32EB-42EA-9CB4-8BB081CC1C0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62"/>
      </c:doughnutChart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B2433"/>
                </a:solidFill>
                <a:latin typeface="+mn-lt"/>
              </a:defRPr>
            </a:pPr>
            <a:r>
              <a:rPr lang="ko-KR" altLang="en-US" sz="1200" b="0" i="0" u="none" strike="noStrike">
                <a:solidFill>
                  <a:srgbClr val="1B2433"/>
                </a:solidFill>
                <a:latin typeface="+mn-lt"/>
              </a:rPr>
              <a:t>자재별 예측 정확도 </a:t>
            </a:r>
            <a:r>
              <a:rPr lang="en-US" altLang="ko-KR" sz="1200" b="0" i="0" u="none" strike="noStrike">
                <a:solidFill>
                  <a:srgbClr val="1B2433"/>
                </a:solidFill>
                <a:latin typeface="+mn-lt"/>
              </a:rPr>
              <a:t>(%, 2025 </a:t>
            </a:r>
            <a:r>
              <a:rPr lang="ko-KR" altLang="en-US" sz="1200" b="0" i="0" u="none" strike="noStrike">
                <a:solidFill>
                  <a:srgbClr val="1B2433"/>
                </a:solidFill>
                <a:latin typeface="+mn-lt"/>
              </a:rPr>
              <a:t>백테스트</a:t>
            </a:r>
            <a:r>
              <a:rPr lang="en-US" altLang="ko-KR" sz="1200" b="0" i="0" u="none" strike="noStrike">
                <a:solidFill>
                  <a:srgbClr val="1B2433"/>
                </a:solidFill>
                <a:latin typeface="+mn-lt"/>
              </a:rPr>
              <a:t>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정확도(%)</c:v>
                </c:pt>
              </c:strCache>
            </c:strRef>
          </c:tx>
          <c:spPr>
            <a:solidFill>
              <a:srgbClr val="1F6FEB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B2433"/>
                    </a:solidFill>
                    <a:latin typeface="+mn-lt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개폐기</c:v>
                </c:pt>
                <c:pt idx="1">
                  <c:v>변압기</c:v>
                </c:pt>
                <c:pt idx="2">
                  <c:v>차단기</c:v>
                </c:pt>
                <c:pt idx="3">
                  <c:v>전력케이블</c:v>
                </c:pt>
                <c:pt idx="4">
                  <c:v>피뢰기</c:v>
                </c:pt>
                <c:pt idx="5">
                  <c:v>단로기</c:v>
                </c:pt>
                <c:pt idx="6">
                  <c:v>전력퓨즈</c:v>
                </c:pt>
                <c:pt idx="7">
                  <c:v>배전반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94.6</c:v>
                </c:pt>
                <c:pt idx="1">
                  <c:v>94.8</c:v>
                </c:pt>
                <c:pt idx="2">
                  <c:v>92.7</c:v>
                </c:pt>
                <c:pt idx="3">
                  <c:v>90.9</c:v>
                </c:pt>
                <c:pt idx="4">
                  <c:v>91.1</c:v>
                </c:pt>
                <c:pt idx="5">
                  <c:v>89.5</c:v>
                </c:pt>
                <c:pt idx="6">
                  <c:v>92.3</c:v>
                </c:pt>
                <c:pt idx="7">
                  <c:v>95.3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9A8-4599-A3FD-998AFCFE47B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A465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80"/>
        </c:scaling>
        <c:delete val="0"/>
        <c:axPos val="l"/>
        <c:majorGridlines>
          <c:spPr>
            <a:ln w="9525" cap="flat">
              <a:solidFill>
                <a:srgbClr val="E3E8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A9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5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75860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프론트엔드까지 구현이 완료된 시점의 중간 보고입니다. 화면은 모두 운영 서버에서 실제로 캡처한 것입니다.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18개 항목 중 10개가 MVP 수준으로 구현·배포되었고, 3개는 부분 구현, 5개는 아직 시작하지 않았습니다. 항목 구분은 작성자 기준입니다.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데이터는 Supabase와 Neo4j에서 읽고, FastAPI 서버가 예측과 재고, 시뮬레이션, 위험 분석을 계산해 React 화면으로 보여줍니다. 모두 AWS 서버 한 대에서 운영됩니다.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대시보드는 핵심 지표 4개, 수요 추이, AI 위험 알림, 재고 주의 자재로 구성됩니다. 원 기획서의 자재별 수요 비중 도넛 차트는 AI 위험 알림으로 대체했습니다. 화면은 운영 서버에서 캡처한 실제 화면입니다.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지식그래프에서 위험이 어떤 기자재와 어떤 공사에 영향을 주는지 찾고, LLM이 위험 원인, 기자재 영향, 수급 문제, 프로젝트 영향의 4줄로 짧게 설명합니다.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자재와 기간을 선택하면 예측 수요량과 전년 대비 증감, 예측 정확도를 표로 보여주고, 행을 누르면 해당 자재의 실적·예측 추이를 그립니다. 모델은 선형 추세에 월별 계절지수를 곱한 통계 모델이며 머신러닝은 쓰지 않았습니다.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발주관리는 목록 조회와 등록, 상태 변경을 지원하고, 재고관리는 현재고와 적정재고, 소진 예상일, 권장 발주량을 보여줍니다. 데이터는 Supabase에 저장되며 현재는 샘플 데이터입니다.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수요 변동률과 납기 지연일을 바꿔 결품 위험을 확인합니다. 왼쪽은 복합 위험 시나리오 실행 화면이고, 오른쪽은 4개 시나리오 비교표입니다. 시나리오 수치는 가정치입니다.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데이터 관리는 연동된 Supabase 테이블의 건수와 기간, 데이터 구분을 보여줍니다. 로그인은 서명 토큰 방식이며, 운영 서버는 HTTPS로 접속됩니다.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기획서의 6개 화면은 모두 구현했습니다. 지식그래프와 AI 추론, 포털은 MVP 수준이고, 실데이터 정제와 외부 시스템 연동은 아직 남아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보고 시점의 주요 한계와 대응 방향입니다. 대부분은 실데이터 전환 이후에 의미 있는 검증이 가능합니다.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사전 절차 없이 바로 진행 가능한 항목을 우선순위대로 제안드립니다. 오른쪽 항목은 담당자 결정이나 외부 정보가 필요합니다.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2011680"/>
            <a:ext cx="6949440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44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731520" y="3749040"/>
            <a:ext cx="69494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2200" dirty="0">
                <a:solidFill>
                  <a:srgbClr val="CADCFC"/>
                </a:solidFill>
              </a:defRPr>
            </a:lvl1pPr>
          </a:lstStyle>
          <a:p>
            <a:pPr marL="0" indent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marL="0" indent="0" algn="l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A90"/>
                </a:solidFill>
              </a:rPr>
              <a:t>기자재 AI 수요예측 시스템  ·  중간 보고서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chart" Target="../charts/char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2011680"/>
            <a:ext cx="7406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400" b="1" dirty="0" err="1">
                <a:solidFill>
                  <a:schemeClr val="bg1"/>
                </a:solidFill>
              </a:rPr>
              <a:t>기자재</a:t>
            </a:r>
            <a:r>
              <a:rPr lang="en-US" sz="4400" b="1" dirty="0">
                <a:solidFill>
                  <a:schemeClr val="bg1"/>
                </a:solidFill>
              </a:rPr>
              <a:t> </a:t>
            </a:r>
            <a:r>
              <a:rPr lang="ko-KR" altLang="en-US" dirty="0"/>
              <a:t>최적 재고관리</a:t>
            </a:r>
            <a:r>
              <a:rPr lang="en-US" sz="4400" b="1" dirty="0">
                <a:solidFill>
                  <a:schemeClr val="bg1"/>
                </a:solidFill>
              </a:rPr>
              <a:t> 시스템</a:t>
            </a:r>
            <a:endParaRPr lang="en-US" sz="44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731520" y="3749040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dirty="0">
                <a:solidFill>
                  <a:srgbClr val="CADCFC"/>
                </a:solidFill>
              </a:rPr>
              <a:t>중간 보고서 — 프론트엔드 구현까지의 진행 현황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539496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</a:rPr>
              <a:t>운영 주소  https://youngmind.cloud</a:t>
            </a:r>
            <a:endParaRPr lang="en-US" sz="1400" dirty="0"/>
          </a:p>
        </p:txBody>
      </p:sp>
      <p:sp>
        <p:nvSpPr>
          <p:cNvPr id="6" name="GraphEdge 0"/>
          <p:cNvSpPr/>
          <p:nvPr/>
        </p:nvSpPr>
        <p:spPr>
          <a:xfrm>
            <a:off x="10104120" y="1874520"/>
            <a:ext cx="1188720" cy="1188720"/>
          </a:xfrm>
          <a:prstGeom prst="line">
            <a:avLst/>
          </a:prstGeom>
          <a:noFill/>
          <a:ln w="19050">
            <a:solidFill>
              <a:srgbClr val="5B7BA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GraphEdge 1"/>
          <p:cNvSpPr/>
          <p:nvPr/>
        </p:nvSpPr>
        <p:spPr>
          <a:xfrm flipV="1">
            <a:off x="8869680" y="1874520"/>
            <a:ext cx="1234440" cy="1508760"/>
          </a:xfrm>
          <a:prstGeom prst="line">
            <a:avLst/>
          </a:prstGeom>
          <a:noFill/>
          <a:ln w="19050">
            <a:solidFill>
              <a:srgbClr val="5B7BA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GraphEdge 2"/>
          <p:cNvSpPr/>
          <p:nvPr/>
        </p:nvSpPr>
        <p:spPr>
          <a:xfrm flipV="1">
            <a:off x="9326880" y="1874520"/>
            <a:ext cx="777240" cy="502920"/>
          </a:xfrm>
          <a:prstGeom prst="line">
            <a:avLst/>
          </a:prstGeom>
          <a:noFill/>
          <a:ln w="19050">
            <a:solidFill>
              <a:srgbClr val="5B7BA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GraphEdge 3"/>
          <p:cNvSpPr/>
          <p:nvPr/>
        </p:nvSpPr>
        <p:spPr>
          <a:xfrm flipV="1">
            <a:off x="10515600" y="3063240"/>
            <a:ext cx="777240" cy="1600200"/>
          </a:xfrm>
          <a:prstGeom prst="line">
            <a:avLst/>
          </a:prstGeom>
          <a:noFill/>
          <a:ln w="19050">
            <a:solidFill>
              <a:srgbClr val="5B7BA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GraphEdge 4"/>
          <p:cNvSpPr/>
          <p:nvPr/>
        </p:nvSpPr>
        <p:spPr>
          <a:xfrm>
            <a:off x="8869680" y="3383280"/>
            <a:ext cx="1645920" cy="1280160"/>
          </a:xfrm>
          <a:prstGeom prst="line">
            <a:avLst/>
          </a:prstGeom>
          <a:noFill/>
          <a:ln w="19050">
            <a:solidFill>
              <a:srgbClr val="5B7BA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GraphEdge 5"/>
          <p:cNvSpPr/>
          <p:nvPr/>
        </p:nvSpPr>
        <p:spPr>
          <a:xfrm>
            <a:off x="10515600" y="4663440"/>
            <a:ext cx="868680" cy="685800"/>
          </a:xfrm>
          <a:prstGeom prst="line">
            <a:avLst/>
          </a:prstGeom>
          <a:noFill/>
          <a:ln w="19050">
            <a:solidFill>
              <a:srgbClr val="5B7BA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GraphEdge 6"/>
          <p:cNvSpPr/>
          <p:nvPr/>
        </p:nvSpPr>
        <p:spPr>
          <a:xfrm flipV="1">
            <a:off x="8503920" y="4663440"/>
            <a:ext cx="2011680" cy="731520"/>
          </a:xfrm>
          <a:prstGeom prst="line">
            <a:avLst/>
          </a:prstGeom>
          <a:noFill/>
          <a:ln w="19050">
            <a:solidFill>
              <a:srgbClr val="5B7BA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GraphEdge 7"/>
          <p:cNvSpPr/>
          <p:nvPr/>
        </p:nvSpPr>
        <p:spPr>
          <a:xfrm flipV="1">
            <a:off x="8869680" y="2377440"/>
            <a:ext cx="457200" cy="1005840"/>
          </a:xfrm>
          <a:prstGeom prst="line">
            <a:avLst/>
          </a:prstGeom>
          <a:noFill/>
          <a:ln w="19050">
            <a:solidFill>
              <a:srgbClr val="5B7BA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GraphNode 0"/>
          <p:cNvSpPr/>
          <p:nvPr/>
        </p:nvSpPr>
        <p:spPr>
          <a:xfrm>
            <a:off x="9692640" y="1463040"/>
            <a:ext cx="822960" cy="82296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GraphNode 1"/>
          <p:cNvSpPr/>
          <p:nvPr/>
        </p:nvSpPr>
        <p:spPr>
          <a:xfrm>
            <a:off x="10972800" y="2743200"/>
            <a:ext cx="640080" cy="640080"/>
          </a:xfrm>
          <a:prstGeom prst="ellipse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GraphNode 2"/>
          <p:cNvSpPr/>
          <p:nvPr/>
        </p:nvSpPr>
        <p:spPr>
          <a:xfrm>
            <a:off x="8503920" y="3017520"/>
            <a:ext cx="731520" cy="731520"/>
          </a:xfrm>
          <a:prstGeom prst="ellipse">
            <a:avLst/>
          </a:prstGeom>
          <a:solidFill>
            <a:srgbClr val="DCE8F7"/>
          </a:solidFill>
          <a:ln w="12700">
            <a:solidFill>
              <a:srgbClr val="DCE8F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GraphNode 3"/>
          <p:cNvSpPr/>
          <p:nvPr/>
        </p:nvSpPr>
        <p:spPr>
          <a:xfrm>
            <a:off x="10058400" y="4206240"/>
            <a:ext cx="914400" cy="91440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GraphNode 4"/>
          <p:cNvSpPr/>
          <p:nvPr/>
        </p:nvSpPr>
        <p:spPr>
          <a:xfrm>
            <a:off x="11155680" y="5120640"/>
            <a:ext cx="457200" cy="457200"/>
          </a:xfrm>
          <a:prstGeom prst="ellipse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GraphNode 5"/>
          <p:cNvSpPr/>
          <p:nvPr/>
        </p:nvSpPr>
        <p:spPr>
          <a:xfrm>
            <a:off x="8229600" y="5120640"/>
            <a:ext cx="548640" cy="548640"/>
          </a:xfrm>
          <a:prstGeom prst="ellipse">
            <a:avLst/>
          </a:prstGeom>
          <a:solidFill>
            <a:srgbClr val="DCE8F7"/>
          </a:solidFill>
          <a:ln w="12700">
            <a:solidFill>
              <a:srgbClr val="DCE8F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GraphNode 6"/>
          <p:cNvSpPr/>
          <p:nvPr/>
        </p:nvSpPr>
        <p:spPr>
          <a:xfrm>
            <a:off x="9144000" y="2194560"/>
            <a:ext cx="365760" cy="365760"/>
          </a:xfrm>
          <a:prstGeom prst="ellipse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진행 현황 요약</a:t>
            </a:r>
            <a:endParaRPr lang="en-US" sz="3000" dirty="0"/>
          </a:p>
        </p:txBody>
      </p:sp>
      <p:sp>
        <p:nvSpPr>
          <p:cNvPr id="3" name="Eyebrow"/>
          <p:cNvSpPr txBox="1"/>
          <p:nvPr/>
        </p:nvSpPr>
        <p:spPr>
          <a:xfrm>
            <a:off x="54864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요약</a:t>
            </a:r>
            <a:endParaRPr lang="en-US" sz="12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548640" y="1371600"/>
          <a:ext cx="4023360" cy="3749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2"/>
          <p:cNvSpPr txBox="1"/>
          <p:nvPr/>
        </p:nvSpPr>
        <p:spPr>
          <a:xfrm>
            <a:off x="1645920" y="28346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chemeClr val="tx2"/>
                </a:solidFill>
              </a:rPr>
              <a:t>10 / 18</a:t>
            </a:r>
            <a:endParaRPr lang="en-US" sz="3000" dirty="0"/>
          </a:p>
        </p:txBody>
      </p:sp>
      <p:sp>
        <p:nvSpPr>
          <p:cNvPr id="7" name="Text 3"/>
          <p:cNvSpPr txBox="1"/>
          <p:nvPr/>
        </p:nvSpPr>
        <p:spPr>
          <a:xfrm>
            <a:off x="1645920" y="34290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accent6"/>
                </a:solidFill>
              </a:rPr>
              <a:t>구현·배포 완료</a:t>
            </a:r>
            <a:endParaRPr lang="en-US" sz="1300" dirty="0"/>
          </a:p>
        </p:txBody>
      </p:sp>
      <p:sp>
        <p:nvSpPr>
          <p:cNvPr id="8" name="LegendDot"/>
          <p:cNvSpPr/>
          <p:nvPr/>
        </p:nvSpPr>
        <p:spPr>
          <a:xfrm>
            <a:off x="731520" y="5257800"/>
            <a:ext cx="182880" cy="182880"/>
          </a:xfrm>
          <a:prstGeom prst="ellipse">
            <a:avLst/>
          </a:prstGeom>
          <a:solidFill>
            <a:srgbClr val="1FA971"/>
          </a:solidFill>
          <a:ln w="12700">
            <a:solidFill>
              <a:srgbClr val="1FA97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5"/>
          <p:cNvSpPr txBox="1"/>
          <p:nvPr/>
        </p:nvSpPr>
        <p:spPr>
          <a:xfrm>
            <a:off x="1005840" y="5193792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완료 10</a:t>
            </a:r>
            <a:endParaRPr lang="en-US" sz="1400" dirty="0"/>
          </a:p>
        </p:txBody>
      </p:sp>
      <p:sp>
        <p:nvSpPr>
          <p:cNvPr id="10" name="LegendDot"/>
          <p:cNvSpPr/>
          <p:nvPr/>
        </p:nvSpPr>
        <p:spPr>
          <a:xfrm>
            <a:off x="2103120" y="5257800"/>
            <a:ext cx="182880" cy="18288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7"/>
          <p:cNvSpPr txBox="1"/>
          <p:nvPr/>
        </p:nvSpPr>
        <p:spPr>
          <a:xfrm>
            <a:off x="2377440" y="5193792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부분 3</a:t>
            </a:r>
            <a:endParaRPr lang="en-US" sz="1400" dirty="0"/>
          </a:p>
        </p:txBody>
      </p:sp>
      <p:sp>
        <p:nvSpPr>
          <p:cNvPr id="12" name="LegendDot"/>
          <p:cNvSpPr/>
          <p:nvPr/>
        </p:nvSpPr>
        <p:spPr>
          <a:xfrm>
            <a:off x="3474720" y="5257800"/>
            <a:ext cx="182880" cy="182880"/>
          </a:xfrm>
          <a:prstGeom prst="ellipse">
            <a:avLst/>
          </a:prstGeom>
          <a:solidFill>
            <a:srgbClr val="B8C2D3"/>
          </a:solidFill>
          <a:ln w="12700">
            <a:solidFill>
              <a:srgbClr val="B8C2D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9"/>
          <p:cNvSpPr txBox="1"/>
          <p:nvPr/>
        </p:nvSpPr>
        <p:spPr>
          <a:xfrm>
            <a:off x="3749040" y="5193792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미착수 5</a:t>
            </a:r>
            <a:endParaRPr lang="en-US" sz="1400" dirty="0"/>
          </a:p>
        </p:txBody>
      </p:sp>
      <p:sp>
        <p:nvSpPr>
          <p:cNvPr id="14" name="Card"/>
          <p:cNvSpPr/>
          <p:nvPr/>
        </p:nvSpPr>
        <p:spPr>
          <a:xfrm>
            <a:off x="4937760" y="1417320"/>
            <a:ext cx="6702552" cy="1920240"/>
          </a:xfrm>
          <a:prstGeom prst="roundRect">
            <a:avLst>
              <a:gd name="adj" fmla="val 4762"/>
            </a:avLst>
          </a:prstGeom>
          <a:solidFill>
            <a:schemeClr val="bg1"/>
          </a:solidFill>
          <a:ln w="9525">
            <a:solidFill>
              <a:srgbClr val="E3E8F2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1"/>
          <p:cNvSpPr txBox="1"/>
          <p:nvPr/>
        </p:nvSpPr>
        <p:spPr>
          <a:xfrm>
            <a:off x="5212080" y="153619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FA971"/>
                </a:solidFill>
              </a:rPr>
              <a:t>구현·배포 완료 (10)</a:t>
            </a:r>
            <a:endParaRPr lang="en-US" sz="1600" dirty="0"/>
          </a:p>
        </p:txBody>
      </p:sp>
      <p:sp>
        <p:nvSpPr>
          <p:cNvPr id="16" name="Text 12"/>
          <p:cNvSpPr txBox="1"/>
          <p:nvPr/>
        </p:nvSpPr>
        <p:spPr>
          <a:xfrm>
            <a:off x="5212080" y="1965960"/>
            <a:ext cx="30175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웹 화면 8종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백엔드 API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Supabase 연동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수요예측 모델·검증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재고 로직</a:t>
            </a:r>
            <a:endParaRPr lang="en-US" sz="1400" dirty="0"/>
          </a:p>
        </p:txBody>
      </p:sp>
      <p:sp>
        <p:nvSpPr>
          <p:cNvPr id="17" name="Text 13"/>
          <p:cNvSpPr txBox="1"/>
          <p:nvPr/>
        </p:nvSpPr>
        <p:spPr>
          <a:xfrm>
            <a:off x="8412480" y="1965960"/>
            <a:ext cx="30175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시뮬레이션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AI 위험 알림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프로젝트 연결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로그인(단일 계정)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클라우드 배포·HTTPS</a:t>
            </a:r>
            <a:endParaRPr lang="en-US" sz="1400" dirty="0"/>
          </a:p>
        </p:txBody>
      </p:sp>
      <p:sp>
        <p:nvSpPr>
          <p:cNvPr id="18" name="Card"/>
          <p:cNvSpPr/>
          <p:nvPr/>
        </p:nvSpPr>
        <p:spPr>
          <a:xfrm>
            <a:off x="4937760" y="3520440"/>
            <a:ext cx="3246120" cy="1920240"/>
          </a:xfrm>
          <a:prstGeom prst="roundRect">
            <a:avLst>
              <a:gd name="adj" fmla="val 4762"/>
            </a:avLst>
          </a:prstGeom>
          <a:solidFill>
            <a:schemeClr val="bg1"/>
          </a:solidFill>
          <a:ln w="9525">
            <a:solidFill>
              <a:srgbClr val="E3E8F2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5"/>
          <p:cNvSpPr txBox="1"/>
          <p:nvPr/>
        </p:nvSpPr>
        <p:spPr>
          <a:xfrm>
            <a:off x="5212080" y="363931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B97500"/>
                </a:solidFill>
              </a:rPr>
              <a:t>부분 구현 (3)</a:t>
            </a:r>
            <a:endParaRPr lang="en-US" sz="1600" dirty="0"/>
          </a:p>
        </p:txBody>
      </p:sp>
      <p:sp>
        <p:nvSpPr>
          <p:cNvPr id="20" name="Text 16"/>
          <p:cNvSpPr txBox="1"/>
          <p:nvPr/>
        </p:nvSpPr>
        <p:spPr>
          <a:xfrm>
            <a:off x="5212080" y="4069080"/>
            <a:ext cx="2834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발주·재고 (샘플 데이터)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예측 모델 (통계 모델만)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시뮬레이션 (단순 규칙)</a:t>
            </a:r>
            <a:endParaRPr lang="en-US" sz="1400" dirty="0"/>
          </a:p>
        </p:txBody>
      </p:sp>
      <p:sp>
        <p:nvSpPr>
          <p:cNvPr id="21" name="Card"/>
          <p:cNvSpPr/>
          <p:nvPr/>
        </p:nvSpPr>
        <p:spPr>
          <a:xfrm>
            <a:off x="8394192" y="3520440"/>
            <a:ext cx="3246120" cy="1920240"/>
          </a:xfrm>
          <a:prstGeom prst="roundRect">
            <a:avLst>
              <a:gd name="adj" fmla="val 4762"/>
            </a:avLst>
          </a:prstGeom>
          <a:solidFill>
            <a:schemeClr val="bg1"/>
          </a:solidFill>
          <a:ln w="9525">
            <a:solidFill>
              <a:srgbClr val="E3E8F2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8"/>
          <p:cNvSpPr txBox="1"/>
          <p:nvPr/>
        </p:nvSpPr>
        <p:spPr>
          <a:xfrm>
            <a:off x="8668512" y="363931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6"/>
                </a:solidFill>
              </a:rPr>
              <a:t>미착수 (5)</a:t>
            </a:r>
            <a:endParaRPr lang="en-US" sz="1600" dirty="0"/>
          </a:p>
        </p:txBody>
      </p:sp>
      <p:sp>
        <p:nvSpPr>
          <p:cNvPr id="23" name="Text 19"/>
          <p:cNvSpPr txBox="1"/>
          <p:nvPr/>
        </p:nvSpPr>
        <p:spPr>
          <a:xfrm>
            <a:off x="8668512" y="4069080"/>
            <a:ext cx="28346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관리자 페이지·권한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문자·카카오 알림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엑셀·CSV 내보내기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ERP 등 외부 연동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실시간 시세·뉴스</a:t>
            </a:r>
            <a:endParaRPr lang="en-US" sz="1400" dirty="0"/>
          </a:p>
        </p:txBody>
      </p:sp>
      <p:sp>
        <p:nvSpPr>
          <p:cNvPr id="24" name="Text 20"/>
          <p:cNvSpPr txBox="1"/>
          <p:nvPr/>
        </p:nvSpPr>
        <p:spPr>
          <a:xfrm>
            <a:off x="548640" y="57607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6"/>
                </a:solidFill>
              </a:rPr>
              <a:t>※ 완료는 MVP 수준의 구현을 뜻하며, 수요·가격·프로젝트 데이터는 가상(synthetic), 발주·재고는 샘플입니다.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시스템 구성과 기술 스택</a:t>
            </a:r>
            <a:endParaRPr lang="en-US" sz="3000" dirty="0"/>
          </a:p>
        </p:txBody>
      </p:sp>
      <p:sp>
        <p:nvSpPr>
          <p:cNvPr id="3" name="Eyebrow"/>
          <p:cNvSpPr txBox="1"/>
          <p:nvPr/>
        </p:nvSpPr>
        <p:spPr>
          <a:xfrm>
            <a:off x="54864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구성</a:t>
            </a:r>
            <a:endParaRPr lang="en-US" sz="1200" dirty="0"/>
          </a:p>
        </p:txBody>
      </p:sp>
      <p:sp>
        <p:nvSpPr>
          <p:cNvPr id="5" name="Column"/>
          <p:cNvSpPr/>
          <p:nvPr/>
        </p:nvSpPr>
        <p:spPr>
          <a:xfrm>
            <a:off x="548640" y="1463040"/>
            <a:ext cx="3383280" cy="3200400"/>
          </a:xfrm>
          <a:prstGeom prst="roundRect">
            <a:avLst>
              <a:gd name="adj" fmla="val 2857"/>
            </a:avLst>
          </a:prstGeom>
          <a:solidFill>
            <a:schemeClr val="bg1"/>
          </a:solidFill>
          <a:ln w="9525">
            <a:solidFill>
              <a:srgbClr val="E3E8F2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IconCircle"/>
          <p:cNvSpPr/>
          <p:nvPr/>
        </p:nvSpPr>
        <p:spPr>
          <a:xfrm>
            <a:off x="777240" y="1645920"/>
            <a:ext cx="640080" cy="640080"/>
          </a:xfrm>
          <a:prstGeom prst="ellipse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7" name="Icon FaDatabase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3661" y="1812341"/>
            <a:ext cx="307238" cy="30723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554480" y="16916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데이터 · AI</a:t>
            </a:r>
            <a:endParaRPr lang="en-US" sz="1600" dirty="0"/>
          </a:p>
        </p:txBody>
      </p:sp>
      <p:sp>
        <p:nvSpPr>
          <p:cNvPr id="9" name="Text 5"/>
          <p:cNvSpPr txBox="1"/>
          <p:nvPr/>
        </p:nvSpPr>
        <p:spPr>
          <a:xfrm>
            <a:off x="822960" y="2514600"/>
            <a:ext cx="28346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Supabase (PostgreSQL)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Neo4j 지식그래프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OpenAI LLM</a:t>
            </a:r>
            <a:endParaRPr lang="en-US" sz="1500" dirty="0"/>
          </a:p>
        </p:txBody>
      </p:sp>
      <p:sp>
        <p:nvSpPr>
          <p:cNvPr id="10" name="Arrow"/>
          <p:cNvSpPr/>
          <p:nvPr/>
        </p:nvSpPr>
        <p:spPr>
          <a:xfrm>
            <a:off x="3986784" y="3063240"/>
            <a:ext cx="347472" cy="0"/>
          </a:xfrm>
          <a:prstGeom prst="line">
            <a:avLst/>
          </a:prstGeom>
          <a:noFill/>
          <a:ln w="25400">
            <a:solidFill>
              <a:srgbClr val="F5A623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Column"/>
          <p:cNvSpPr/>
          <p:nvPr/>
        </p:nvSpPr>
        <p:spPr>
          <a:xfrm>
            <a:off x="4389120" y="1463040"/>
            <a:ext cx="3383280" cy="3200400"/>
          </a:xfrm>
          <a:prstGeom prst="roundRect">
            <a:avLst>
              <a:gd name="adj" fmla="val 2857"/>
            </a:avLst>
          </a:prstGeom>
          <a:solidFill>
            <a:schemeClr val="tx2"/>
          </a:solidFill>
          <a:ln w="9525">
            <a:solidFill>
              <a:srgbClr val="E3E8F2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IconCircle"/>
          <p:cNvSpPr/>
          <p:nvPr/>
        </p:nvSpPr>
        <p:spPr>
          <a:xfrm>
            <a:off x="4617720" y="1645920"/>
            <a:ext cx="640080" cy="64008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3" name="Icon FaServer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4141" y="1812341"/>
            <a:ext cx="307238" cy="307238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5394960" y="16916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FastAPI 서버 (Python)</a:t>
            </a:r>
            <a:endParaRPr lang="en-US" sz="1600" dirty="0"/>
          </a:p>
        </p:txBody>
      </p:sp>
      <p:sp>
        <p:nvSpPr>
          <p:cNvPr id="15" name="Text 10"/>
          <p:cNvSpPr txBox="1"/>
          <p:nvPr/>
        </p:nvSpPr>
        <p:spPr>
          <a:xfrm>
            <a:off x="4663440" y="2514600"/>
            <a:ext cx="28346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수요예측 · 백테스트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재고·발주 로직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시나리오 시뮬레이션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위험 분석·요약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로그인(서명 토큰)</a:t>
            </a:r>
            <a:endParaRPr lang="en-US" sz="1500" dirty="0"/>
          </a:p>
        </p:txBody>
      </p:sp>
      <p:sp>
        <p:nvSpPr>
          <p:cNvPr id="16" name="Arrow"/>
          <p:cNvSpPr/>
          <p:nvPr/>
        </p:nvSpPr>
        <p:spPr>
          <a:xfrm>
            <a:off x="7827264" y="3063240"/>
            <a:ext cx="347472" cy="0"/>
          </a:xfrm>
          <a:prstGeom prst="line">
            <a:avLst/>
          </a:prstGeom>
          <a:noFill/>
          <a:ln w="25400">
            <a:solidFill>
              <a:srgbClr val="F5A623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Column"/>
          <p:cNvSpPr/>
          <p:nvPr/>
        </p:nvSpPr>
        <p:spPr>
          <a:xfrm>
            <a:off x="8229600" y="1463040"/>
            <a:ext cx="3383280" cy="3200400"/>
          </a:xfrm>
          <a:prstGeom prst="roundRect">
            <a:avLst>
              <a:gd name="adj" fmla="val 2857"/>
            </a:avLst>
          </a:prstGeom>
          <a:solidFill>
            <a:schemeClr val="bg1"/>
          </a:solidFill>
          <a:ln w="9525">
            <a:solidFill>
              <a:srgbClr val="E3E8F2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IconCircle"/>
          <p:cNvSpPr/>
          <p:nvPr/>
        </p:nvSpPr>
        <p:spPr>
          <a:xfrm>
            <a:off x="8458200" y="1645920"/>
            <a:ext cx="640080" cy="640080"/>
          </a:xfrm>
          <a:prstGeom prst="ellipse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9" name="Icon FaDesktop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24621" y="1812341"/>
            <a:ext cx="307238" cy="307238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9235440" y="16916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React 웹 (Vite)</a:t>
            </a:r>
            <a:endParaRPr lang="en-US" sz="1600" dirty="0"/>
          </a:p>
        </p:txBody>
      </p:sp>
      <p:sp>
        <p:nvSpPr>
          <p:cNvPr id="21" name="Text 15"/>
          <p:cNvSpPr txBox="1"/>
          <p:nvPr/>
        </p:nvSpPr>
        <p:spPr>
          <a:xfrm>
            <a:off x="8503920" y="2514600"/>
            <a:ext cx="28346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대시보드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수요예측 · 발주 · 재고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시뮬레이션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데이터 관리 · 설정</a:t>
            </a:r>
            <a:endParaRPr lang="en-US" sz="1500" dirty="0"/>
          </a:p>
        </p:txBody>
      </p:sp>
      <p:sp>
        <p:nvSpPr>
          <p:cNvPr id="22" name="Card"/>
          <p:cNvSpPr/>
          <p:nvPr/>
        </p:nvSpPr>
        <p:spPr>
          <a:xfrm>
            <a:off x="548640" y="4983480"/>
            <a:ext cx="2606040" cy="1188720"/>
          </a:xfrm>
          <a:prstGeom prst="roundRect">
            <a:avLst>
              <a:gd name="adj" fmla="val 7692"/>
            </a:avLst>
          </a:prstGeom>
          <a:solidFill>
            <a:schemeClr val="bg1"/>
          </a:solidFill>
          <a:ln w="9525">
            <a:solidFill>
              <a:srgbClr val="E3E8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17"/>
          <p:cNvSpPr txBox="1"/>
          <p:nvPr/>
        </p:nvSpPr>
        <p:spPr>
          <a:xfrm>
            <a:off x="731520" y="50749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AWS EC2</a:t>
            </a:r>
            <a:endParaRPr lang="en-US" sz="1600" dirty="0"/>
          </a:p>
        </p:txBody>
      </p:sp>
      <p:sp>
        <p:nvSpPr>
          <p:cNvPr id="24" name="Text 18"/>
          <p:cNvSpPr txBox="1"/>
          <p:nvPr/>
        </p:nvSpPr>
        <p:spPr>
          <a:xfrm>
            <a:off x="731520" y="548640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Ubuntu · vCPU 2 · RAM 약 1GB</a:t>
            </a:r>
            <a:endParaRPr lang="en-US" sz="1300" dirty="0"/>
          </a:p>
        </p:txBody>
      </p:sp>
      <p:sp>
        <p:nvSpPr>
          <p:cNvPr id="25" name="Card"/>
          <p:cNvSpPr/>
          <p:nvPr/>
        </p:nvSpPr>
        <p:spPr>
          <a:xfrm>
            <a:off x="3337560" y="4983480"/>
            <a:ext cx="2606040" cy="1188720"/>
          </a:xfrm>
          <a:prstGeom prst="roundRect">
            <a:avLst>
              <a:gd name="adj" fmla="val 7692"/>
            </a:avLst>
          </a:prstGeom>
          <a:solidFill>
            <a:schemeClr val="bg1"/>
          </a:solidFill>
          <a:ln w="9525">
            <a:solidFill>
              <a:srgbClr val="E3E8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0"/>
          <p:cNvSpPr txBox="1"/>
          <p:nvPr/>
        </p:nvSpPr>
        <p:spPr>
          <a:xfrm>
            <a:off x="3520440" y="50749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nginx</a:t>
            </a:r>
            <a:endParaRPr lang="en-US" sz="1600" dirty="0"/>
          </a:p>
        </p:txBody>
      </p:sp>
      <p:sp>
        <p:nvSpPr>
          <p:cNvPr id="27" name="Text 21"/>
          <p:cNvSpPr txBox="1"/>
          <p:nvPr/>
        </p:nvSpPr>
        <p:spPr>
          <a:xfrm>
            <a:off x="3520440" y="548640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리버스 프록시 · HTTPS</a:t>
            </a:r>
            <a:endParaRPr lang="en-US" sz="1300" dirty="0"/>
          </a:p>
        </p:txBody>
      </p:sp>
      <p:sp>
        <p:nvSpPr>
          <p:cNvPr id="28" name="Card"/>
          <p:cNvSpPr/>
          <p:nvPr/>
        </p:nvSpPr>
        <p:spPr>
          <a:xfrm>
            <a:off x="6126480" y="4983480"/>
            <a:ext cx="2606040" cy="1188720"/>
          </a:xfrm>
          <a:prstGeom prst="roundRect">
            <a:avLst>
              <a:gd name="adj" fmla="val 7692"/>
            </a:avLst>
          </a:prstGeom>
          <a:solidFill>
            <a:schemeClr val="bg1"/>
          </a:solidFill>
          <a:ln w="9525">
            <a:solidFill>
              <a:srgbClr val="E3E8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3"/>
          <p:cNvSpPr txBox="1"/>
          <p:nvPr/>
        </p:nvSpPr>
        <p:spPr>
          <a:xfrm>
            <a:off x="6309360" y="50749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Let's Encrypt</a:t>
            </a:r>
            <a:endParaRPr lang="en-US" sz="1600" dirty="0"/>
          </a:p>
        </p:txBody>
      </p:sp>
      <p:sp>
        <p:nvSpPr>
          <p:cNvPr id="30" name="Text 24"/>
          <p:cNvSpPr txBox="1"/>
          <p:nvPr/>
        </p:nvSpPr>
        <p:spPr>
          <a:xfrm>
            <a:off x="6309360" y="548640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무료 인증서 · 90일 자동 갱신</a:t>
            </a:r>
            <a:endParaRPr lang="en-US" sz="1300" dirty="0"/>
          </a:p>
        </p:txBody>
      </p:sp>
      <p:sp>
        <p:nvSpPr>
          <p:cNvPr id="31" name="Card"/>
          <p:cNvSpPr/>
          <p:nvPr/>
        </p:nvSpPr>
        <p:spPr>
          <a:xfrm>
            <a:off x="8915400" y="4983480"/>
            <a:ext cx="2606040" cy="1188720"/>
          </a:xfrm>
          <a:prstGeom prst="roundRect">
            <a:avLst>
              <a:gd name="adj" fmla="val 7692"/>
            </a:avLst>
          </a:prstGeom>
          <a:solidFill>
            <a:schemeClr val="bg1"/>
          </a:solidFill>
          <a:ln w="9525">
            <a:solidFill>
              <a:srgbClr val="E3E8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26"/>
          <p:cNvSpPr txBox="1"/>
          <p:nvPr/>
        </p:nvSpPr>
        <p:spPr>
          <a:xfrm>
            <a:off x="9098280" y="50749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systemd</a:t>
            </a:r>
            <a:endParaRPr lang="en-US" sz="1600" dirty="0"/>
          </a:p>
        </p:txBody>
      </p:sp>
      <p:sp>
        <p:nvSpPr>
          <p:cNvPr id="33" name="Text 27"/>
          <p:cNvSpPr txBox="1"/>
          <p:nvPr/>
        </p:nvSpPr>
        <p:spPr>
          <a:xfrm>
            <a:off x="9098280" y="548640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장애·재부팅 시 자동 재시작</a:t>
            </a:r>
            <a:endParaRPr lang="en-US" sz="1300" dirty="0"/>
          </a:p>
        </p:txBody>
      </p:sp>
      <p:sp>
        <p:nvSpPr>
          <p:cNvPr id="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화면 ① 대시보드</a:t>
            </a:r>
            <a:endParaRPr lang="en-US" sz="3000" dirty="0"/>
          </a:p>
        </p:txBody>
      </p:sp>
      <p:sp>
        <p:nvSpPr>
          <p:cNvPr id="3" name="Eyebrow"/>
          <p:cNvSpPr txBox="1"/>
          <p:nvPr/>
        </p:nvSpPr>
        <p:spPr>
          <a:xfrm>
            <a:off x="54864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프론트엔드</a:t>
            </a:r>
            <a:endParaRPr lang="en-US" sz="1200" dirty="0"/>
          </a:p>
        </p:txBody>
      </p:sp>
      <p:sp>
        <p:nvSpPr>
          <p:cNvPr id="5" name="ScreenFrame dashboard_c"/>
          <p:cNvSpPr/>
          <p:nvPr/>
        </p:nvSpPr>
        <p:spPr>
          <a:xfrm>
            <a:off x="493776" y="1316736"/>
            <a:ext cx="6531845" cy="4956048"/>
          </a:xfrm>
          <a:prstGeom prst="roundRect">
            <a:avLst>
              <a:gd name="adj" fmla="val 1107"/>
            </a:avLst>
          </a:prstGeom>
          <a:solidFill>
            <a:schemeClr val="bg1"/>
          </a:solidFill>
          <a:ln w="9525">
            <a:solidFill>
              <a:srgbClr val="CBD5E5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6" name="Screenshot dashboard_c" descr="C:/Users/YOUNG/AppData/Local/Temp/claude/C--Users-YOUNG-Desktop----AI----/98c15b24-1c24-4fc5-89aa-0b756a3b0b16/scratchpad/shots/dashboard_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71600"/>
            <a:ext cx="6422117" cy="4846320"/>
          </a:xfrm>
          <a:prstGeom prst="rect">
            <a:avLst/>
          </a:prstGeom>
        </p:spPr>
      </p:pic>
      <p:sp>
        <p:nvSpPr>
          <p:cNvPr id="7" name="Callout 1"/>
          <p:cNvSpPr/>
          <p:nvPr/>
        </p:nvSpPr>
        <p:spPr>
          <a:xfrm>
            <a:off x="1436786" y="1555097"/>
            <a:ext cx="310896" cy="310896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4"/>
          <p:cNvSpPr txBox="1"/>
          <p:nvPr/>
        </p:nvSpPr>
        <p:spPr>
          <a:xfrm>
            <a:off x="1436786" y="1555097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2"/>
                </a:solidFill>
              </a:rPr>
              <a:t>1</a:t>
            </a:r>
            <a:endParaRPr lang="en-US" sz="1300" dirty="0"/>
          </a:p>
        </p:txBody>
      </p:sp>
      <p:sp>
        <p:nvSpPr>
          <p:cNvPr id="9" name="Callout 2"/>
          <p:cNvSpPr/>
          <p:nvPr/>
        </p:nvSpPr>
        <p:spPr>
          <a:xfrm>
            <a:off x="1436786" y="2108113"/>
            <a:ext cx="310896" cy="310896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6"/>
          <p:cNvSpPr txBox="1"/>
          <p:nvPr/>
        </p:nvSpPr>
        <p:spPr>
          <a:xfrm>
            <a:off x="1436786" y="2108113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2"/>
                </a:solidFill>
              </a:rPr>
              <a:t>2</a:t>
            </a:r>
            <a:endParaRPr lang="en-US" sz="1300" dirty="0"/>
          </a:p>
        </p:txBody>
      </p:sp>
      <p:sp>
        <p:nvSpPr>
          <p:cNvPr id="11" name="Callout 3"/>
          <p:cNvSpPr/>
          <p:nvPr/>
        </p:nvSpPr>
        <p:spPr>
          <a:xfrm>
            <a:off x="4108208" y="2108113"/>
            <a:ext cx="310896" cy="310896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8"/>
          <p:cNvSpPr txBox="1"/>
          <p:nvPr/>
        </p:nvSpPr>
        <p:spPr>
          <a:xfrm>
            <a:off x="4108208" y="2108113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2"/>
                </a:solidFill>
              </a:rPr>
              <a:t>3</a:t>
            </a:r>
            <a:endParaRPr lang="en-US" sz="1300" dirty="0"/>
          </a:p>
        </p:txBody>
      </p:sp>
      <p:sp>
        <p:nvSpPr>
          <p:cNvPr id="13" name="Callout 4"/>
          <p:cNvSpPr/>
          <p:nvPr/>
        </p:nvSpPr>
        <p:spPr>
          <a:xfrm>
            <a:off x="1436786" y="4796259"/>
            <a:ext cx="310896" cy="310896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0"/>
          <p:cNvSpPr txBox="1"/>
          <p:nvPr/>
        </p:nvSpPr>
        <p:spPr>
          <a:xfrm>
            <a:off x="1436786" y="4796259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2"/>
                </a:solidFill>
              </a:rPr>
              <a:t>4</a:t>
            </a:r>
            <a:endParaRPr lang="en-US" sz="1300" dirty="0"/>
          </a:p>
        </p:txBody>
      </p:sp>
      <p:sp>
        <p:nvSpPr>
          <p:cNvPr id="15" name="Card"/>
          <p:cNvSpPr/>
          <p:nvPr/>
        </p:nvSpPr>
        <p:spPr>
          <a:xfrm>
            <a:off x="7473677" y="1371600"/>
            <a:ext cx="4166635" cy="1097280"/>
          </a:xfrm>
          <a:prstGeom prst="roundRect">
            <a:avLst>
              <a:gd name="adj" fmla="val 8333"/>
            </a:avLst>
          </a:prstGeom>
          <a:solidFill>
            <a:schemeClr val="bg1"/>
          </a:solidFill>
          <a:ln w="9525">
            <a:solidFill>
              <a:srgbClr val="E3E8F2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NoteBadge"/>
          <p:cNvSpPr/>
          <p:nvPr/>
        </p:nvSpPr>
        <p:spPr>
          <a:xfrm>
            <a:off x="7656557" y="1554480"/>
            <a:ext cx="347472" cy="34747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3"/>
          <p:cNvSpPr txBox="1"/>
          <p:nvPr/>
        </p:nvSpPr>
        <p:spPr>
          <a:xfrm>
            <a:off x="7656557" y="15544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1</a:t>
            </a:r>
            <a:endParaRPr lang="en-US" sz="1400" dirty="0"/>
          </a:p>
        </p:txBody>
      </p:sp>
      <p:sp>
        <p:nvSpPr>
          <p:cNvPr id="18" name="Text 14"/>
          <p:cNvSpPr txBox="1"/>
          <p:nvPr/>
        </p:nvSpPr>
        <p:spPr>
          <a:xfrm>
            <a:off x="8159477" y="1536192"/>
            <a:ext cx="32979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핵심 지표 4종</a:t>
            </a:r>
            <a:endParaRPr lang="en-US" sz="1600" dirty="0"/>
          </a:p>
        </p:txBody>
      </p:sp>
      <p:sp>
        <p:nvSpPr>
          <p:cNvPr id="19" name="Text 15"/>
          <p:cNvSpPr txBox="1"/>
          <p:nvPr/>
        </p:nvSpPr>
        <p:spPr>
          <a:xfrm>
            <a:off x="7702277" y="1993392"/>
            <a:ext cx="37094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예측 수요 29,391 · 발주 이행률 88.2% · 재고 3,787 · 예상 소진일 32일(전력퓨즈)</a:t>
            </a:r>
            <a:endParaRPr lang="en-US" sz="1400" dirty="0"/>
          </a:p>
        </p:txBody>
      </p:sp>
      <p:sp>
        <p:nvSpPr>
          <p:cNvPr id="20" name="Card"/>
          <p:cNvSpPr/>
          <p:nvPr/>
        </p:nvSpPr>
        <p:spPr>
          <a:xfrm>
            <a:off x="7473677" y="2606040"/>
            <a:ext cx="4166635" cy="1097280"/>
          </a:xfrm>
          <a:prstGeom prst="roundRect">
            <a:avLst>
              <a:gd name="adj" fmla="val 8333"/>
            </a:avLst>
          </a:prstGeom>
          <a:solidFill>
            <a:schemeClr val="bg1"/>
          </a:solidFill>
          <a:ln w="9525">
            <a:solidFill>
              <a:srgbClr val="E3E8F2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1" name="NoteBadge"/>
          <p:cNvSpPr/>
          <p:nvPr/>
        </p:nvSpPr>
        <p:spPr>
          <a:xfrm>
            <a:off x="7656557" y="2788920"/>
            <a:ext cx="347472" cy="34747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8"/>
          <p:cNvSpPr txBox="1"/>
          <p:nvPr/>
        </p:nvSpPr>
        <p:spPr>
          <a:xfrm>
            <a:off x="7656557" y="27889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2</a:t>
            </a:r>
            <a:endParaRPr lang="en-US" sz="1400" dirty="0"/>
          </a:p>
        </p:txBody>
      </p:sp>
      <p:sp>
        <p:nvSpPr>
          <p:cNvPr id="23" name="Text 19"/>
          <p:cNvSpPr txBox="1"/>
          <p:nvPr/>
        </p:nvSpPr>
        <p:spPr>
          <a:xfrm>
            <a:off x="8159477" y="2770632"/>
            <a:ext cx="32979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수요예측 추이</a:t>
            </a:r>
            <a:endParaRPr lang="en-US" sz="1600" dirty="0"/>
          </a:p>
        </p:txBody>
      </p:sp>
      <p:sp>
        <p:nvSpPr>
          <p:cNvPr id="24" name="Text 20"/>
          <p:cNvSpPr txBox="1"/>
          <p:nvPr/>
        </p:nvSpPr>
        <p:spPr>
          <a:xfrm>
            <a:off x="7702277" y="3227832"/>
            <a:ext cx="37094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실적 24개월과 예측 12개월 (8개 자재 합계)</a:t>
            </a:r>
            <a:endParaRPr lang="en-US" sz="1400" dirty="0"/>
          </a:p>
        </p:txBody>
      </p:sp>
      <p:sp>
        <p:nvSpPr>
          <p:cNvPr id="25" name="Card"/>
          <p:cNvSpPr/>
          <p:nvPr/>
        </p:nvSpPr>
        <p:spPr>
          <a:xfrm>
            <a:off x="7473677" y="3840480"/>
            <a:ext cx="4166635" cy="1097280"/>
          </a:xfrm>
          <a:prstGeom prst="roundRect">
            <a:avLst>
              <a:gd name="adj" fmla="val 8333"/>
            </a:avLst>
          </a:prstGeom>
          <a:solidFill>
            <a:schemeClr val="bg1"/>
          </a:solidFill>
          <a:ln w="9525">
            <a:solidFill>
              <a:srgbClr val="E3E8F2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6" name="NoteBadge"/>
          <p:cNvSpPr/>
          <p:nvPr/>
        </p:nvSpPr>
        <p:spPr>
          <a:xfrm>
            <a:off x="7656557" y="4023360"/>
            <a:ext cx="347472" cy="34747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3"/>
          <p:cNvSpPr txBox="1"/>
          <p:nvPr/>
        </p:nvSpPr>
        <p:spPr>
          <a:xfrm>
            <a:off x="7656557" y="40233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3</a:t>
            </a:r>
            <a:endParaRPr lang="en-US" sz="1400" dirty="0"/>
          </a:p>
        </p:txBody>
      </p:sp>
      <p:sp>
        <p:nvSpPr>
          <p:cNvPr id="28" name="Text 24"/>
          <p:cNvSpPr txBox="1"/>
          <p:nvPr/>
        </p:nvSpPr>
        <p:spPr>
          <a:xfrm>
            <a:off x="8159477" y="4005072"/>
            <a:ext cx="32979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AI 위험 알림</a:t>
            </a:r>
            <a:endParaRPr lang="en-US" sz="1600" dirty="0"/>
          </a:p>
        </p:txBody>
      </p:sp>
      <p:sp>
        <p:nvSpPr>
          <p:cNvPr id="29" name="Text 25"/>
          <p:cNvSpPr txBox="1"/>
          <p:nvPr/>
        </p:nvSpPr>
        <p:spPr>
          <a:xfrm>
            <a:off x="7702277" y="4462272"/>
            <a:ext cx="37094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프로젝트별 위험을 4줄로 요약. 기획서의 수요 비중 차트를 대체</a:t>
            </a:r>
            <a:endParaRPr lang="en-US" sz="1400" dirty="0"/>
          </a:p>
        </p:txBody>
      </p:sp>
      <p:sp>
        <p:nvSpPr>
          <p:cNvPr id="30" name="Card"/>
          <p:cNvSpPr/>
          <p:nvPr/>
        </p:nvSpPr>
        <p:spPr>
          <a:xfrm>
            <a:off x="7473677" y="5074920"/>
            <a:ext cx="4166635" cy="1097280"/>
          </a:xfrm>
          <a:prstGeom prst="roundRect">
            <a:avLst>
              <a:gd name="adj" fmla="val 8333"/>
            </a:avLst>
          </a:prstGeom>
          <a:solidFill>
            <a:schemeClr val="bg1"/>
          </a:solidFill>
          <a:ln w="9525">
            <a:solidFill>
              <a:srgbClr val="E3E8F2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1" name="NoteBadge"/>
          <p:cNvSpPr/>
          <p:nvPr/>
        </p:nvSpPr>
        <p:spPr>
          <a:xfrm>
            <a:off x="7656557" y="5257800"/>
            <a:ext cx="347472" cy="34747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28"/>
          <p:cNvSpPr txBox="1"/>
          <p:nvPr/>
        </p:nvSpPr>
        <p:spPr>
          <a:xfrm>
            <a:off x="7656557" y="52578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4</a:t>
            </a:r>
            <a:endParaRPr lang="en-US" sz="1400" dirty="0"/>
          </a:p>
        </p:txBody>
      </p:sp>
      <p:sp>
        <p:nvSpPr>
          <p:cNvPr id="33" name="Text 29"/>
          <p:cNvSpPr txBox="1"/>
          <p:nvPr/>
        </p:nvSpPr>
        <p:spPr>
          <a:xfrm>
            <a:off x="8159477" y="5239512"/>
            <a:ext cx="32979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재고 주의 자재</a:t>
            </a:r>
            <a:endParaRPr lang="en-US" sz="1600" dirty="0"/>
          </a:p>
        </p:txBody>
      </p:sp>
      <p:sp>
        <p:nvSpPr>
          <p:cNvPr id="34" name="Text 30"/>
          <p:cNvSpPr txBox="1"/>
          <p:nvPr/>
        </p:nvSpPr>
        <p:spPr>
          <a:xfrm>
            <a:off x="7702277" y="5696712"/>
            <a:ext cx="37094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부족 상태 자재와 권장 발주량을 한눈에 확인</a:t>
            </a:r>
            <a:endParaRPr lang="en-US" sz="1400" dirty="0"/>
          </a:p>
        </p:txBody>
      </p:sp>
      <p:sp>
        <p:nvSpPr>
          <p:cNvPr id="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화면 ② AI 위험 알림</a:t>
            </a:r>
            <a:endParaRPr lang="en-US" sz="3000" dirty="0"/>
          </a:p>
        </p:txBody>
      </p:sp>
      <p:sp>
        <p:nvSpPr>
          <p:cNvPr id="3" name="Eyebrow"/>
          <p:cNvSpPr txBox="1"/>
          <p:nvPr/>
        </p:nvSpPr>
        <p:spPr>
          <a:xfrm>
            <a:off x="54864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프론트엔드</a:t>
            </a:r>
            <a:endParaRPr lang="en-US" sz="1200" dirty="0"/>
          </a:p>
        </p:txBody>
      </p:sp>
      <p:sp>
        <p:nvSpPr>
          <p:cNvPr id="5" name="ScreenFrame risk"/>
          <p:cNvSpPr/>
          <p:nvPr/>
        </p:nvSpPr>
        <p:spPr>
          <a:xfrm>
            <a:off x="493776" y="1316736"/>
            <a:ext cx="4923042" cy="4956048"/>
          </a:xfrm>
          <a:prstGeom prst="roundRect">
            <a:avLst>
              <a:gd name="adj" fmla="val 1114"/>
            </a:avLst>
          </a:prstGeom>
          <a:solidFill>
            <a:schemeClr val="bg1"/>
          </a:solidFill>
          <a:ln w="9525">
            <a:solidFill>
              <a:srgbClr val="CBD5E5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6" name="Screenshot risk_panel" descr="C:/Users/YOUNG/AppData/Local/Temp/claude/C--Users-YOUNG-Desktop----AI----/98c15b24-1c24-4fc5-89aa-0b756a3b0b16/scratchpad/shots/risk_pan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71600"/>
            <a:ext cx="4813314" cy="48463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819154" y="1325880"/>
            <a:ext cx="58211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분석 흐름</a:t>
            </a:r>
            <a:endParaRPr lang="en-US" sz="1500" dirty="0"/>
          </a:p>
        </p:txBody>
      </p:sp>
      <p:sp>
        <p:nvSpPr>
          <p:cNvPr id="8" name="Card"/>
          <p:cNvSpPr/>
          <p:nvPr/>
        </p:nvSpPr>
        <p:spPr>
          <a:xfrm>
            <a:off x="5819154" y="1737360"/>
            <a:ext cx="5821158" cy="566928"/>
          </a:xfrm>
          <a:prstGeom prst="roundRect">
            <a:avLst>
              <a:gd name="adj" fmla="val 16129"/>
            </a:avLst>
          </a:prstGeom>
          <a:solidFill>
            <a:schemeClr val="bg1"/>
          </a:solidFill>
          <a:ln w="9525">
            <a:solidFill>
              <a:srgbClr val="E3E8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Badge"/>
          <p:cNvSpPr/>
          <p:nvPr/>
        </p:nvSpPr>
        <p:spPr>
          <a:xfrm>
            <a:off x="5956314" y="1828800"/>
            <a:ext cx="384048" cy="384048"/>
          </a:xfrm>
          <a:prstGeom prst="ellipse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6"/>
          <p:cNvSpPr txBox="1"/>
          <p:nvPr/>
        </p:nvSpPr>
        <p:spPr>
          <a:xfrm>
            <a:off x="5956314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6459234" y="1737360"/>
            <a:ext cx="504391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지식그래프 조회 (Neo4j 경로)</a:t>
            </a:r>
            <a:endParaRPr lang="en-US" sz="1400" dirty="0"/>
          </a:p>
        </p:txBody>
      </p:sp>
      <p:sp>
        <p:nvSpPr>
          <p:cNvPr id="12" name="Arrow"/>
          <p:cNvSpPr/>
          <p:nvPr/>
        </p:nvSpPr>
        <p:spPr>
          <a:xfrm>
            <a:off x="8729733" y="2313432"/>
            <a:ext cx="0" cy="128016"/>
          </a:xfrm>
          <a:prstGeom prst="line">
            <a:avLst/>
          </a:prstGeom>
          <a:noFill/>
          <a:ln w="25400">
            <a:solidFill>
              <a:srgbClr val="F5A623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Card"/>
          <p:cNvSpPr/>
          <p:nvPr/>
        </p:nvSpPr>
        <p:spPr>
          <a:xfrm>
            <a:off x="5819154" y="2450592"/>
            <a:ext cx="5821158" cy="566928"/>
          </a:xfrm>
          <a:prstGeom prst="roundRect">
            <a:avLst>
              <a:gd name="adj" fmla="val 16129"/>
            </a:avLst>
          </a:prstGeom>
          <a:solidFill>
            <a:schemeClr val="bg1"/>
          </a:solidFill>
          <a:ln w="9525">
            <a:solidFill>
              <a:srgbClr val="E3E8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Badge"/>
          <p:cNvSpPr/>
          <p:nvPr/>
        </p:nvSpPr>
        <p:spPr>
          <a:xfrm>
            <a:off x="5956314" y="2542032"/>
            <a:ext cx="384048" cy="384048"/>
          </a:xfrm>
          <a:prstGeom prst="ellipse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1"/>
          <p:cNvSpPr txBox="1"/>
          <p:nvPr/>
        </p:nvSpPr>
        <p:spPr>
          <a:xfrm>
            <a:off x="5956314" y="25420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6" name="Text 12"/>
          <p:cNvSpPr txBox="1"/>
          <p:nvPr/>
        </p:nvSpPr>
        <p:spPr>
          <a:xfrm>
            <a:off x="6459234" y="2450592"/>
            <a:ext cx="504391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위험도 판정 (임계값·심각도)</a:t>
            </a:r>
            <a:endParaRPr lang="en-US" sz="1400" dirty="0"/>
          </a:p>
        </p:txBody>
      </p:sp>
      <p:sp>
        <p:nvSpPr>
          <p:cNvPr id="17" name="Arrow"/>
          <p:cNvSpPr/>
          <p:nvPr/>
        </p:nvSpPr>
        <p:spPr>
          <a:xfrm>
            <a:off x="8729733" y="3026664"/>
            <a:ext cx="0" cy="128016"/>
          </a:xfrm>
          <a:prstGeom prst="line">
            <a:avLst/>
          </a:prstGeom>
          <a:noFill/>
          <a:ln w="25400">
            <a:solidFill>
              <a:srgbClr val="F5A623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Card"/>
          <p:cNvSpPr/>
          <p:nvPr/>
        </p:nvSpPr>
        <p:spPr>
          <a:xfrm>
            <a:off x="5819154" y="3163824"/>
            <a:ext cx="5821158" cy="566928"/>
          </a:xfrm>
          <a:prstGeom prst="roundRect">
            <a:avLst>
              <a:gd name="adj" fmla="val 16129"/>
            </a:avLst>
          </a:prstGeom>
          <a:solidFill>
            <a:schemeClr val="bg1"/>
          </a:solidFill>
          <a:ln w="9525">
            <a:solidFill>
              <a:srgbClr val="E3E8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Badge"/>
          <p:cNvSpPr/>
          <p:nvPr/>
        </p:nvSpPr>
        <p:spPr>
          <a:xfrm>
            <a:off x="5956314" y="3255264"/>
            <a:ext cx="384048" cy="384048"/>
          </a:xfrm>
          <a:prstGeom prst="ellipse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6"/>
          <p:cNvSpPr txBox="1"/>
          <p:nvPr/>
        </p:nvSpPr>
        <p:spPr>
          <a:xfrm>
            <a:off x="5956314" y="32552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21" name="Text 17"/>
          <p:cNvSpPr txBox="1"/>
          <p:nvPr/>
        </p:nvSpPr>
        <p:spPr>
          <a:xfrm>
            <a:off x="6459234" y="3163824"/>
            <a:ext cx="504391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LLM 4줄 요약 (실패 시 규칙 문장)</a:t>
            </a:r>
            <a:endParaRPr lang="en-US" sz="1400" dirty="0"/>
          </a:p>
        </p:txBody>
      </p:sp>
      <p:sp>
        <p:nvSpPr>
          <p:cNvPr id="22" name="Arrow"/>
          <p:cNvSpPr/>
          <p:nvPr/>
        </p:nvSpPr>
        <p:spPr>
          <a:xfrm>
            <a:off x="8729733" y="3739896"/>
            <a:ext cx="0" cy="128016"/>
          </a:xfrm>
          <a:prstGeom prst="line">
            <a:avLst/>
          </a:prstGeom>
          <a:noFill/>
          <a:ln w="25400">
            <a:solidFill>
              <a:srgbClr val="F5A623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Card"/>
          <p:cNvSpPr/>
          <p:nvPr/>
        </p:nvSpPr>
        <p:spPr>
          <a:xfrm>
            <a:off x="5819154" y="3877056"/>
            <a:ext cx="5821158" cy="566928"/>
          </a:xfrm>
          <a:prstGeom prst="roundRect">
            <a:avLst>
              <a:gd name="adj" fmla="val 16129"/>
            </a:avLst>
          </a:prstGeom>
          <a:solidFill>
            <a:schemeClr val="bg1"/>
          </a:solidFill>
          <a:ln w="9525">
            <a:solidFill>
              <a:srgbClr val="E3E8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Badge"/>
          <p:cNvSpPr/>
          <p:nvPr/>
        </p:nvSpPr>
        <p:spPr>
          <a:xfrm>
            <a:off x="5956314" y="3968496"/>
            <a:ext cx="384048" cy="384048"/>
          </a:xfrm>
          <a:prstGeom prst="ellipse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1"/>
          <p:cNvSpPr txBox="1"/>
          <p:nvPr/>
        </p:nvSpPr>
        <p:spPr>
          <a:xfrm>
            <a:off x="5956314" y="39684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26" name="Text 22"/>
          <p:cNvSpPr txBox="1"/>
          <p:nvPr/>
        </p:nvSpPr>
        <p:spPr>
          <a:xfrm>
            <a:off x="6459234" y="3877056"/>
            <a:ext cx="504391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프로젝트별 카드로 표시</a:t>
            </a:r>
            <a:endParaRPr lang="en-US" sz="1400" dirty="0"/>
          </a:p>
        </p:txBody>
      </p:sp>
      <p:sp>
        <p:nvSpPr>
          <p:cNvPr id="27" name="Text 23"/>
          <p:cNvSpPr txBox="1"/>
          <p:nvPr/>
        </p:nvSpPr>
        <p:spPr>
          <a:xfrm>
            <a:off x="5819154" y="4709160"/>
            <a:ext cx="58211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현재 감지된 위험 8건 (2개 프로젝트)</a:t>
            </a:r>
            <a:endParaRPr lang="en-US" sz="1500" dirty="0"/>
          </a:p>
        </p:txBody>
      </p:sp>
      <p:sp>
        <p:nvSpPr>
          <p:cNvPr id="28" name="LevelChip"/>
          <p:cNvSpPr/>
          <p:nvPr/>
        </p:nvSpPr>
        <p:spPr>
          <a:xfrm>
            <a:off x="5819154" y="5120640"/>
            <a:ext cx="1879426" cy="502920"/>
          </a:xfrm>
          <a:prstGeom prst="roundRect">
            <a:avLst>
              <a:gd name="adj" fmla="val 49091"/>
            </a:avLst>
          </a:prstGeom>
          <a:solidFill>
            <a:srgbClr val="FFE1DE"/>
          </a:solidFill>
          <a:ln w="12700">
            <a:solidFill>
              <a:srgbClr val="FFE1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5"/>
          <p:cNvSpPr txBox="1"/>
          <p:nvPr/>
        </p:nvSpPr>
        <p:spPr>
          <a:xfrm>
            <a:off x="5819154" y="5120640"/>
            <a:ext cx="187942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5483A"/>
                </a:solidFill>
              </a:rPr>
              <a:t>매우위험 3</a:t>
            </a:r>
            <a:endParaRPr lang="en-US" sz="1400" dirty="0"/>
          </a:p>
        </p:txBody>
      </p:sp>
      <p:sp>
        <p:nvSpPr>
          <p:cNvPr id="30" name="LevelChip"/>
          <p:cNvSpPr/>
          <p:nvPr/>
        </p:nvSpPr>
        <p:spPr>
          <a:xfrm>
            <a:off x="7790020" y="5120640"/>
            <a:ext cx="1879426" cy="502920"/>
          </a:xfrm>
          <a:prstGeom prst="roundRect">
            <a:avLst>
              <a:gd name="adj" fmla="val 49091"/>
            </a:avLst>
          </a:prstGeom>
          <a:solidFill>
            <a:srgbClr val="FFE9C7"/>
          </a:solidFill>
          <a:ln w="12700">
            <a:solidFill>
              <a:srgbClr val="FFE9C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7"/>
          <p:cNvSpPr txBox="1"/>
          <p:nvPr/>
        </p:nvSpPr>
        <p:spPr>
          <a:xfrm>
            <a:off x="7790020" y="5120640"/>
            <a:ext cx="187942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A35F00"/>
                </a:solidFill>
              </a:rPr>
              <a:t>위험 3</a:t>
            </a:r>
            <a:endParaRPr lang="en-US" sz="1400" dirty="0"/>
          </a:p>
        </p:txBody>
      </p:sp>
      <p:sp>
        <p:nvSpPr>
          <p:cNvPr id="32" name="LevelChip"/>
          <p:cNvSpPr/>
          <p:nvPr/>
        </p:nvSpPr>
        <p:spPr>
          <a:xfrm>
            <a:off x="9760886" y="5120640"/>
            <a:ext cx="1879426" cy="502920"/>
          </a:xfrm>
          <a:prstGeom prst="roundRect">
            <a:avLst>
              <a:gd name="adj" fmla="val 49091"/>
            </a:avLst>
          </a:prstGeom>
          <a:solidFill>
            <a:srgbClr val="FFF4CC"/>
          </a:solidFill>
          <a:ln w="12700">
            <a:solidFill>
              <a:srgbClr val="FFF4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29"/>
          <p:cNvSpPr txBox="1"/>
          <p:nvPr/>
        </p:nvSpPr>
        <p:spPr>
          <a:xfrm>
            <a:off x="9760886" y="5120640"/>
            <a:ext cx="187942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8A6A00"/>
                </a:solidFill>
              </a:rPr>
              <a:t>경고 2</a:t>
            </a:r>
            <a:endParaRPr lang="en-US" sz="1400" dirty="0"/>
          </a:p>
        </p:txBody>
      </p:sp>
      <p:sp>
        <p:nvSpPr>
          <p:cNvPr id="34" name="Text 30"/>
          <p:cNvSpPr txBox="1"/>
          <p:nvPr/>
        </p:nvSpPr>
        <p:spPr>
          <a:xfrm>
            <a:off x="5819154" y="5760720"/>
            <a:ext cx="58211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accent6"/>
                </a:solidFill>
              </a:rPr>
              <a:t>원자재 가격 +10% 경고 · +15% 위험 · +20% 매우위험</a:t>
            </a:r>
            <a:endParaRPr lang="en-US" sz="1300" dirty="0"/>
          </a:p>
        </p:txBody>
      </p:sp>
      <p:sp>
        <p:nvSpPr>
          <p:cNvPr id="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화면 ③ 수요예측</a:t>
            </a:r>
            <a:endParaRPr lang="en-US" sz="3000" dirty="0"/>
          </a:p>
        </p:txBody>
      </p:sp>
      <p:sp>
        <p:nvSpPr>
          <p:cNvPr id="3" name="Eyebrow"/>
          <p:cNvSpPr txBox="1"/>
          <p:nvPr/>
        </p:nvSpPr>
        <p:spPr>
          <a:xfrm>
            <a:off x="54864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프론트엔드</a:t>
            </a:r>
            <a:endParaRPr lang="en-US" sz="1200" dirty="0"/>
          </a:p>
        </p:txBody>
      </p:sp>
      <p:sp>
        <p:nvSpPr>
          <p:cNvPr id="5" name="ScreenFrame forecast_c"/>
          <p:cNvSpPr/>
          <p:nvPr/>
        </p:nvSpPr>
        <p:spPr>
          <a:xfrm>
            <a:off x="493776" y="1316736"/>
            <a:ext cx="6784848" cy="4729776"/>
          </a:xfrm>
          <a:prstGeom prst="roundRect">
            <a:avLst>
              <a:gd name="adj" fmla="val 1160"/>
            </a:avLst>
          </a:prstGeom>
          <a:solidFill>
            <a:schemeClr val="bg1"/>
          </a:solidFill>
          <a:ln w="9525">
            <a:solidFill>
              <a:srgbClr val="CBD5E5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6" name="Screenshot forecast_c" descr="C:/Users/YOUNG/AppData/Local/Temp/claude/C--Users-YOUNG-Desktop----AI----/98c15b24-1c24-4fc5-89aa-0b756a3b0b16/scratchpad/shots/forecast_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71600"/>
            <a:ext cx="6675120" cy="4620048"/>
          </a:xfrm>
          <a:prstGeom prst="rect">
            <a:avLst/>
          </a:prstGeom>
        </p:spPr>
      </p:pic>
      <p:sp>
        <p:nvSpPr>
          <p:cNvPr id="7" name="Callout 1"/>
          <p:cNvSpPr/>
          <p:nvPr/>
        </p:nvSpPr>
        <p:spPr>
          <a:xfrm>
            <a:off x="1565974" y="1647254"/>
            <a:ext cx="310896" cy="310896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4"/>
          <p:cNvSpPr txBox="1"/>
          <p:nvPr/>
        </p:nvSpPr>
        <p:spPr>
          <a:xfrm>
            <a:off x="1565974" y="164725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2"/>
                </a:solidFill>
              </a:rPr>
              <a:t>1</a:t>
            </a:r>
            <a:endParaRPr lang="en-US" sz="1300" dirty="0"/>
          </a:p>
        </p:txBody>
      </p:sp>
      <p:sp>
        <p:nvSpPr>
          <p:cNvPr id="9" name="Callout 2"/>
          <p:cNvSpPr/>
          <p:nvPr/>
        </p:nvSpPr>
        <p:spPr>
          <a:xfrm>
            <a:off x="1565974" y="2277681"/>
            <a:ext cx="310896" cy="310896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6"/>
          <p:cNvSpPr txBox="1"/>
          <p:nvPr/>
        </p:nvSpPr>
        <p:spPr>
          <a:xfrm>
            <a:off x="1565974" y="2277681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2"/>
                </a:solidFill>
              </a:rPr>
              <a:t>2</a:t>
            </a:r>
            <a:endParaRPr lang="en-US" sz="1300" dirty="0"/>
          </a:p>
        </p:txBody>
      </p:sp>
      <p:sp>
        <p:nvSpPr>
          <p:cNvPr id="11" name="Callout 3"/>
          <p:cNvSpPr/>
          <p:nvPr/>
        </p:nvSpPr>
        <p:spPr>
          <a:xfrm>
            <a:off x="1565974" y="4317301"/>
            <a:ext cx="310896" cy="310896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8"/>
          <p:cNvSpPr txBox="1"/>
          <p:nvPr/>
        </p:nvSpPr>
        <p:spPr>
          <a:xfrm>
            <a:off x="1565974" y="4317301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2"/>
                </a:solidFill>
              </a:rPr>
              <a:t>3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7680960" y="1325880"/>
            <a:ext cx="39593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① 자재·기간 조회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② 예측 결과표 (정확도 포함)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③ 실적·예측 추이</a:t>
            </a:r>
            <a:endParaRPr lang="en-US" sz="1400" dirty="0"/>
          </a:p>
        </p:txBody>
      </p:sp>
      <p:sp>
        <p:nvSpPr>
          <p:cNvPr id="14" name="Formula"/>
          <p:cNvSpPr/>
          <p:nvPr/>
        </p:nvSpPr>
        <p:spPr>
          <a:xfrm>
            <a:off x="7680960" y="2240280"/>
            <a:ext cx="3959352" cy="91440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1"/>
          <p:cNvSpPr txBox="1"/>
          <p:nvPr/>
        </p:nvSpPr>
        <p:spPr>
          <a:xfrm>
            <a:off x="7680960" y="2240280"/>
            <a:ext cx="39593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chemeClr val="bg1"/>
                </a:solidFill>
              </a:rPr>
              <a:t>예측 = (a + b·t) × 계절지수</a:t>
            </a:r>
            <a:endParaRPr lang="en-US" sz="1900" dirty="0"/>
          </a:p>
        </p:txBody>
      </p:sp>
      <p:graphicFrame>
        <p:nvGraphicFramePr>
          <p:cNvPr id="16" name="Chart 0"/>
          <p:cNvGraphicFramePr/>
          <p:nvPr/>
        </p:nvGraphicFramePr>
        <p:xfrm>
          <a:off x="7589520" y="3246120"/>
          <a:ext cx="4142232" cy="2971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화면 ④ 발주관리 · 재고관리</a:t>
            </a:r>
            <a:endParaRPr lang="en-US" sz="3000" dirty="0"/>
          </a:p>
        </p:txBody>
      </p:sp>
      <p:sp>
        <p:nvSpPr>
          <p:cNvPr id="3" name="Eyebrow"/>
          <p:cNvSpPr txBox="1"/>
          <p:nvPr/>
        </p:nvSpPr>
        <p:spPr>
          <a:xfrm>
            <a:off x="54864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프론트엔드</a:t>
            </a:r>
            <a:endParaRPr lang="en-US" sz="1200" dirty="0"/>
          </a:p>
        </p:txBody>
      </p:sp>
      <p:sp>
        <p:nvSpPr>
          <p:cNvPr id="5" name="ScreenFrame orders_c"/>
          <p:cNvSpPr/>
          <p:nvPr/>
        </p:nvSpPr>
        <p:spPr>
          <a:xfrm>
            <a:off x="493776" y="1362456"/>
            <a:ext cx="5669280" cy="3584448"/>
          </a:xfrm>
          <a:prstGeom prst="roundRect">
            <a:avLst>
              <a:gd name="adj" fmla="val 1531"/>
            </a:avLst>
          </a:prstGeom>
          <a:solidFill>
            <a:schemeClr val="bg1"/>
          </a:solidFill>
          <a:ln w="9525">
            <a:solidFill>
              <a:srgbClr val="CBD5E5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6" name="Screenshot orders_c" descr="C:/Users/YOUNG/AppData/Local/Temp/claude/C--Users-YOUNG-Desktop----AI----/98c15b24-1c24-4fc5-89aa-0b756a3b0b16/scratchpad/shots/orders_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17320"/>
            <a:ext cx="5559552" cy="3474720"/>
          </a:xfrm>
          <a:prstGeom prst="rect">
            <a:avLst/>
          </a:prstGeom>
        </p:spPr>
      </p:pic>
      <p:sp>
        <p:nvSpPr>
          <p:cNvPr id="7" name="ScreenFrame inventory_c"/>
          <p:cNvSpPr/>
          <p:nvPr/>
        </p:nvSpPr>
        <p:spPr>
          <a:xfrm>
            <a:off x="6373368" y="1362456"/>
            <a:ext cx="5050739" cy="3584448"/>
          </a:xfrm>
          <a:prstGeom prst="roundRect">
            <a:avLst>
              <a:gd name="adj" fmla="val 1531"/>
            </a:avLst>
          </a:prstGeom>
          <a:solidFill>
            <a:schemeClr val="bg1"/>
          </a:solidFill>
          <a:ln w="9525">
            <a:solidFill>
              <a:srgbClr val="CBD5E5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8" name="Screenshot inventory_c" descr="C:/Users/YOUNG/AppData/Local/Temp/claude/C--Users-YOUNG-Desktop----AI----/98c15b24-1c24-4fc5-89aa-0b756a3b0b16/scratchpad/shots/inventory_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8232" y="1417320"/>
            <a:ext cx="4941011" cy="3474720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548640" y="5120640"/>
            <a:ext cx="555955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발주번호·수량·납기·상태 목록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발주 등록(자재·수량·납기), 상태 변경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발주 52건 · 이행률 88.2% (샘플)</a:t>
            </a:r>
            <a:endParaRPr lang="en-US" sz="1400" dirty="0"/>
          </a:p>
        </p:txBody>
      </p:sp>
      <p:sp>
        <p:nvSpPr>
          <p:cNvPr id="10" name="Text 5"/>
          <p:cNvSpPr txBox="1"/>
          <p:nvPr/>
        </p:nvSpPr>
        <p:spPr>
          <a:xfrm>
            <a:off x="6428232" y="5120640"/>
            <a:ext cx="4941011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현재고 vs 적정재고, 부족 수량, 소진 예상일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권장 발주 = 적정 + 다음 달 수요 − 현재고 − 발주 중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상태: 여유 · 부족 · 위험 (현재 4종 부족)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화면 ⑤ 시뮬레이션</a:t>
            </a:r>
            <a:endParaRPr lang="en-US" sz="3000" dirty="0"/>
          </a:p>
        </p:txBody>
      </p:sp>
      <p:sp>
        <p:nvSpPr>
          <p:cNvPr id="3" name="Eyebrow"/>
          <p:cNvSpPr txBox="1"/>
          <p:nvPr/>
        </p:nvSpPr>
        <p:spPr>
          <a:xfrm>
            <a:off x="54864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프론트엔드</a:t>
            </a:r>
            <a:endParaRPr lang="en-US" sz="1200" dirty="0"/>
          </a:p>
        </p:txBody>
      </p:sp>
      <p:sp>
        <p:nvSpPr>
          <p:cNvPr id="5" name="ScreenFrame simulation_c"/>
          <p:cNvSpPr/>
          <p:nvPr/>
        </p:nvSpPr>
        <p:spPr>
          <a:xfrm>
            <a:off x="493776" y="1316736"/>
            <a:ext cx="6510528" cy="4225798"/>
          </a:xfrm>
          <a:prstGeom prst="roundRect">
            <a:avLst>
              <a:gd name="adj" fmla="val 1298"/>
            </a:avLst>
          </a:prstGeom>
          <a:solidFill>
            <a:schemeClr val="bg1"/>
          </a:solidFill>
          <a:ln w="9525">
            <a:solidFill>
              <a:srgbClr val="CBD5E5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6" name="Screenshot simulation_c" descr="C:/Users/YOUNG/AppData/Local/Temp/claude/C--Users-YOUNG-Desktop----AI----/98c15b24-1c24-4fc5-89aa-0b756a3b0b16/scratchpad/shots/simulation_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71600"/>
            <a:ext cx="6400800" cy="4116070"/>
          </a:xfrm>
          <a:prstGeom prst="rect">
            <a:avLst/>
          </a:prstGeom>
        </p:spPr>
      </p:pic>
      <p:sp>
        <p:nvSpPr>
          <p:cNvPr id="7" name="Callout 1"/>
          <p:cNvSpPr/>
          <p:nvPr/>
        </p:nvSpPr>
        <p:spPr>
          <a:xfrm>
            <a:off x="1433322" y="1798447"/>
            <a:ext cx="310896" cy="310896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4"/>
          <p:cNvSpPr txBox="1"/>
          <p:nvPr/>
        </p:nvSpPr>
        <p:spPr>
          <a:xfrm>
            <a:off x="1433322" y="1798447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2"/>
                </a:solidFill>
              </a:rPr>
              <a:t>1</a:t>
            </a:r>
            <a:endParaRPr lang="en-US" sz="1300" dirty="0"/>
          </a:p>
        </p:txBody>
      </p:sp>
      <p:sp>
        <p:nvSpPr>
          <p:cNvPr id="9" name="Callout 2"/>
          <p:cNvSpPr/>
          <p:nvPr/>
        </p:nvSpPr>
        <p:spPr>
          <a:xfrm>
            <a:off x="1433322" y="3114167"/>
            <a:ext cx="310896" cy="310896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6"/>
          <p:cNvSpPr txBox="1"/>
          <p:nvPr/>
        </p:nvSpPr>
        <p:spPr>
          <a:xfrm>
            <a:off x="1433322" y="3114167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2"/>
                </a:solidFill>
              </a:rPr>
              <a:t>2</a:t>
            </a:r>
            <a:endParaRPr lang="en-US" sz="1300" dirty="0"/>
          </a:p>
        </p:txBody>
      </p:sp>
      <p:sp>
        <p:nvSpPr>
          <p:cNvPr id="11" name="Callout 3"/>
          <p:cNvSpPr/>
          <p:nvPr/>
        </p:nvSpPr>
        <p:spPr>
          <a:xfrm>
            <a:off x="1517777" y="3874262"/>
            <a:ext cx="310896" cy="310896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8"/>
          <p:cNvSpPr txBox="1"/>
          <p:nvPr/>
        </p:nvSpPr>
        <p:spPr>
          <a:xfrm>
            <a:off x="1517777" y="387426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2"/>
                </a:solidFill>
              </a:rPr>
              <a:t>3</a:t>
            </a:r>
            <a:endParaRPr lang="en-US" sz="1300" dirty="0"/>
          </a:p>
        </p:txBody>
      </p:sp>
      <p:sp>
        <p:nvSpPr>
          <p:cNvPr id="13" name="ScreenFrame compare_c"/>
          <p:cNvSpPr/>
          <p:nvPr/>
        </p:nvSpPr>
        <p:spPr>
          <a:xfrm>
            <a:off x="7351776" y="1316736"/>
            <a:ext cx="4343400" cy="1838477"/>
          </a:xfrm>
          <a:prstGeom prst="roundRect">
            <a:avLst>
              <a:gd name="adj" fmla="val 2984"/>
            </a:avLst>
          </a:prstGeom>
          <a:solidFill>
            <a:schemeClr val="bg1"/>
          </a:solidFill>
          <a:ln w="9525">
            <a:solidFill>
              <a:srgbClr val="CBD5E5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4" name="Screenshot compare_c" descr="C:/Users/YOUNG/AppData/Local/Temp/claude/C--Users-YOUNG-Desktop----AI----/98c15b24-1c24-4fc5-89aa-0b756a3b0b16/scratchpad/shots/compare_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6640" y="1371600"/>
            <a:ext cx="4233672" cy="1728749"/>
          </a:xfrm>
          <a:prstGeom prst="rect">
            <a:avLst/>
          </a:prstGeom>
        </p:spPr>
      </p:pic>
      <p:sp>
        <p:nvSpPr>
          <p:cNvPr id="15" name="Card"/>
          <p:cNvSpPr/>
          <p:nvPr/>
        </p:nvSpPr>
        <p:spPr>
          <a:xfrm>
            <a:off x="7406640" y="3420389"/>
            <a:ext cx="4233672" cy="2751811"/>
          </a:xfrm>
          <a:prstGeom prst="roundRect">
            <a:avLst>
              <a:gd name="adj" fmla="val 3323"/>
            </a:avLst>
          </a:prstGeom>
          <a:solidFill>
            <a:srgbClr val="DCE8F7"/>
          </a:solidFill>
          <a:ln w="9525">
            <a:solidFill>
              <a:srgbClr val="DCE8F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1"/>
          <p:cNvSpPr txBox="1"/>
          <p:nvPr/>
        </p:nvSpPr>
        <p:spPr>
          <a:xfrm>
            <a:off x="7635240" y="3557549"/>
            <a:ext cx="3776472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기준 = 수요 0% · 지연 0일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복합 위험(+15%, 30일): 발주 37,387 · 결품 21 · 소진일 26일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결품은 전력퓨즈 1월에서만 발생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+20%는 과거 상위 5% 수준(전년 동월 대비, 가상 데이터)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화면 ⑥ 데이터 관리 · 로그인 · 운영</a:t>
            </a:r>
            <a:endParaRPr lang="en-US" sz="3000" dirty="0"/>
          </a:p>
        </p:txBody>
      </p:sp>
      <p:sp>
        <p:nvSpPr>
          <p:cNvPr id="3" name="Eyebrow"/>
          <p:cNvSpPr txBox="1"/>
          <p:nvPr/>
        </p:nvSpPr>
        <p:spPr>
          <a:xfrm>
            <a:off x="54864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프론트엔드</a:t>
            </a:r>
            <a:endParaRPr lang="en-US" sz="1200" dirty="0"/>
          </a:p>
        </p:txBody>
      </p:sp>
      <p:sp>
        <p:nvSpPr>
          <p:cNvPr id="5" name="ScreenFrame data_c"/>
          <p:cNvSpPr/>
          <p:nvPr/>
        </p:nvSpPr>
        <p:spPr>
          <a:xfrm>
            <a:off x="493776" y="1362456"/>
            <a:ext cx="6784848" cy="2486194"/>
          </a:xfrm>
          <a:prstGeom prst="roundRect">
            <a:avLst>
              <a:gd name="adj" fmla="val 2207"/>
            </a:avLst>
          </a:prstGeom>
          <a:solidFill>
            <a:schemeClr val="bg1"/>
          </a:solidFill>
          <a:ln w="9525">
            <a:solidFill>
              <a:srgbClr val="CBD5E5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6" name="Screenshot data_c" descr="C:/Users/YOUNG/AppData/Local/Temp/claude/C--Users-YOUNG-Desktop----AI----/98c15b24-1c24-4fc5-89aa-0b756a3b0b16/scratchpad/shots/data_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17320"/>
            <a:ext cx="6675120" cy="2376466"/>
          </a:xfrm>
          <a:prstGeom prst="rect">
            <a:avLst/>
          </a:prstGeom>
        </p:spPr>
      </p:pic>
      <p:sp>
        <p:nvSpPr>
          <p:cNvPr id="7" name="ScreenFrame login_c"/>
          <p:cNvSpPr/>
          <p:nvPr/>
        </p:nvSpPr>
        <p:spPr>
          <a:xfrm>
            <a:off x="7626096" y="1362456"/>
            <a:ext cx="4069080" cy="2336864"/>
          </a:xfrm>
          <a:prstGeom prst="roundRect">
            <a:avLst>
              <a:gd name="adj" fmla="val 2348"/>
            </a:avLst>
          </a:prstGeom>
          <a:solidFill>
            <a:schemeClr val="bg1"/>
          </a:solidFill>
          <a:ln w="9525">
            <a:solidFill>
              <a:srgbClr val="CBD5E5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8" name="Screenshot login_c" descr="C:/Users/YOUNG/AppData/Local/Temp/claude/C--Users-YOUNG-Desktop----AI----/98c15b24-1c24-4fc5-89aa-0b756a3b0b16/scratchpad/shots/login_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0960" y="1417320"/>
            <a:ext cx="3959352" cy="2227136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548640" y="3930946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accent6"/>
                </a:solidFill>
              </a:rPr>
              <a:t>데이터 관리: 8개 테이블 현황 · 새로고침</a:t>
            </a:r>
            <a:endParaRPr lang="en-US" sz="1300" dirty="0"/>
          </a:p>
        </p:txBody>
      </p:sp>
      <p:sp>
        <p:nvSpPr>
          <p:cNvPr id="10" name="Text 5"/>
          <p:cNvSpPr txBox="1"/>
          <p:nvPr/>
        </p:nvSpPr>
        <p:spPr>
          <a:xfrm>
            <a:off x="7680960" y="3781616"/>
            <a:ext cx="3959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accent6"/>
                </a:solidFill>
              </a:rPr>
              <a:t>로그인 화면</a:t>
            </a:r>
            <a:endParaRPr lang="en-US" sz="1300" dirty="0"/>
          </a:p>
        </p:txBody>
      </p:sp>
      <p:sp>
        <p:nvSpPr>
          <p:cNvPr id="11" name="Card"/>
          <p:cNvSpPr/>
          <p:nvPr/>
        </p:nvSpPr>
        <p:spPr>
          <a:xfrm>
            <a:off x="548640" y="4526280"/>
            <a:ext cx="2606040" cy="1600200"/>
          </a:xfrm>
          <a:prstGeom prst="roundRect">
            <a:avLst>
              <a:gd name="adj" fmla="val 5714"/>
            </a:avLst>
          </a:prstGeom>
          <a:solidFill>
            <a:schemeClr val="bg1"/>
          </a:solidFill>
          <a:ln w="9525">
            <a:solidFill>
              <a:srgbClr val="E3E8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IconCircle"/>
          <p:cNvSpPr/>
          <p:nvPr/>
        </p:nvSpPr>
        <p:spPr>
          <a:xfrm>
            <a:off x="731520" y="4663440"/>
            <a:ext cx="548640" cy="54864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3" name="Icon FaLock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4166" y="4806086"/>
            <a:ext cx="263347" cy="263347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417320" y="47091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로그인</a:t>
            </a:r>
            <a:endParaRPr lang="en-US" sz="1500" dirty="0"/>
          </a:p>
        </p:txBody>
      </p:sp>
      <p:sp>
        <p:nvSpPr>
          <p:cNvPr id="15" name="Text 9"/>
          <p:cNvSpPr txBox="1"/>
          <p:nvPr/>
        </p:nvSpPr>
        <p:spPr>
          <a:xfrm>
            <a:off x="731520" y="539496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서명 토큰 · 유효 12시간</a:t>
            </a:r>
            <a:endParaRPr lang="en-US" sz="1300" dirty="0"/>
          </a:p>
        </p:txBody>
      </p:sp>
      <p:sp>
        <p:nvSpPr>
          <p:cNvPr id="16" name="Card"/>
          <p:cNvSpPr/>
          <p:nvPr/>
        </p:nvSpPr>
        <p:spPr>
          <a:xfrm>
            <a:off x="3337560" y="4526280"/>
            <a:ext cx="2606040" cy="1600200"/>
          </a:xfrm>
          <a:prstGeom prst="roundRect">
            <a:avLst>
              <a:gd name="adj" fmla="val 5714"/>
            </a:avLst>
          </a:prstGeom>
          <a:solidFill>
            <a:schemeClr val="bg1"/>
          </a:solidFill>
          <a:ln w="9525">
            <a:solidFill>
              <a:srgbClr val="E3E8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IconCircle"/>
          <p:cNvSpPr/>
          <p:nvPr/>
        </p:nvSpPr>
        <p:spPr>
          <a:xfrm>
            <a:off x="3520440" y="4663440"/>
            <a:ext cx="548640" cy="54864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8" name="Icon FaShieldAlt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63086" y="4806086"/>
            <a:ext cx="263347" cy="263347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4206240" y="47091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HTTPS</a:t>
            </a:r>
            <a:endParaRPr lang="en-US" sz="1500" dirty="0"/>
          </a:p>
        </p:txBody>
      </p:sp>
      <p:sp>
        <p:nvSpPr>
          <p:cNvPr id="20" name="Text 13"/>
          <p:cNvSpPr txBox="1"/>
          <p:nvPr/>
        </p:nvSpPr>
        <p:spPr>
          <a:xfrm>
            <a:off x="3520440" y="539496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Let's Encrypt · 90일 자동 갱신</a:t>
            </a:r>
            <a:endParaRPr lang="en-US" sz="1300" dirty="0"/>
          </a:p>
        </p:txBody>
      </p:sp>
      <p:sp>
        <p:nvSpPr>
          <p:cNvPr id="21" name="Card"/>
          <p:cNvSpPr/>
          <p:nvPr/>
        </p:nvSpPr>
        <p:spPr>
          <a:xfrm>
            <a:off x="6126480" y="4526280"/>
            <a:ext cx="2606040" cy="1600200"/>
          </a:xfrm>
          <a:prstGeom prst="roundRect">
            <a:avLst>
              <a:gd name="adj" fmla="val 5714"/>
            </a:avLst>
          </a:prstGeom>
          <a:solidFill>
            <a:schemeClr val="bg1"/>
          </a:solidFill>
          <a:ln w="9525">
            <a:solidFill>
              <a:srgbClr val="E3E8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IconCircle"/>
          <p:cNvSpPr/>
          <p:nvPr/>
        </p:nvSpPr>
        <p:spPr>
          <a:xfrm>
            <a:off x="6309360" y="4663440"/>
            <a:ext cx="548640" cy="54864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3" name="Icon FaSyncAlt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52006" y="4806086"/>
            <a:ext cx="263347" cy="263347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6995160" y="47091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자동 재시작</a:t>
            </a:r>
            <a:endParaRPr lang="en-US" sz="1500" dirty="0"/>
          </a:p>
        </p:txBody>
      </p:sp>
      <p:sp>
        <p:nvSpPr>
          <p:cNvPr id="25" name="Text 17"/>
          <p:cNvSpPr txBox="1"/>
          <p:nvPr/>
        </p:nvSpPr>
        <p:spPr>
          <a:xfrm>
            <a:off x="6309360" y="539496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systemd로 서비스 상시 실행</a:t>
            </a:r>
            <a:endParaRPr lang="en-US" sz="1300" dirty="0"/>
          </a:p>
        </p:txBody>
      </p:sp>
      <p:sp>
        <p:nvSpPr>
          <p:cNvPr id="26" name="Card"/>
          <p:cNvSpPr/>
          <p:nvPr/>
        </p:nvSpPr>
        <p:spPr>
          <a:xfrm>
            <a:off x="8915400" y="4526280"/>
            <a:ext cx="2606040" cy="1600200"/>
          </a:xfrm>
          <a:prstGeom prst="roundRect">
            <a:avLst>
              <a:gd name="adj" fmla="val 5714"/>
            </a:avLst>
          </a:prstGeom>
          <a:solidFill>
            <a:schemeClr val="bg1"/>
          </a:solidFill>
          <a:ln w="9525">
            <a:solidFill>
              <a:srgbClr val="E3E8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IconCircle"/>
          <p:cNvSpPr/>
          <p:nvPr/>
        </p:nvSpPr>
        <p:spPr>
          <a:xfrm>
            <a:off x="9098280" y="4663440"/>
            <a:ext cx="548640" cy="54864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8" name="Icon FaKey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40926" y="4806086"/>
            <a:ext cx="263347" cy="263347"/>
          </a:xfrm>
          <a:prstGeom prst="rect">
            <a:avLst/>
          </a:prstGeom>
        </p:spPr>
      </p:pic>
      <p:sp>
        <p:nvSpPr>
          <p:cNvPr id="29" name="Text 20"/>
          <p:cNvSpPr txBox="1"/>
          <p:nvPr/>
        </p:nvSpPr>
        <p:spPr>
          <a:xfrm>
            <a:off x="9784080" y="47091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비밀값 관리</a:t>
            </a:r>
            <a:endParaRPr lang="en-US" sz="1500" dirty="0"/>
          </a:p>
        </p:txBody>
      </p:sp>
      <p:sp>
        <p:nvSpPr>
          <p:cNvPr id="30" name="Text 21"/>
          <p:cNvSpPr txBox="1"/>
          <p:nvPr/>
        </p:nvSpPr>
        <p:spPr>
          <a:xfrm>
            <a:off x="9098280" y="539496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서버에만 보관, 브라우저로 미전달</a:t>
            </a:r>
            <a:endParaRPr lang="en-US" sz="1300" dirty="0"/>
          </a:p>
        </p:txBody>
      </p:sp>
      <p:sp>
        <p:nvSpPr>
          <p:cNvPr id="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원 기획 대비 구현 현황</a:t>
            </a:r>
            <a:endParaRPr lang="en-US" sz="3000" dirty="0"/>
          </a:p>
        </p:txBody>
      </p:sp>
      <p:sp>
        <p:nvSpPr>
          <p:cNvPr id="3" name="Eyebrow"/>
          <p:cNvSpPr txBox="1"/>
          <p:nvPr/>
        </p:nvSpPr>
        <p:spPr>
          <a:xfrm>
            <a:off x="54864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진행 평가</a:t>
            </a:r>
            <a:endParaRPr lang="en-US" sz="1200" dirty="0"/>
          </a:p>
        </p:txBody>
      </p:sp>
      <p:sp>
        <p:nvSpPr>
          <p:cNvPr id="5" name="PipelineStep"/>
          <p:cNvSpPr/>
          <p:nvPr/>
        </p:nvSpPr>
        <p:spPr>
          <a:xfrm>
            <a:off x="548640" y="1417320"/>
            <a:ext cx="2011680" cy="960120"/>
          </a:xfrm>
          <a:prstGeom prst="roundRect">
            <a:avLst>
              <a:gd name="adj" fmla="val 9524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 txBox="1"/>
          <p:nvPr/>
        </p:nvSpPr>
        <p:spPr>
          <a:xfrm>
            <a:off x="548640" y="1417320"/>
            <a:ext cx="2011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온톨로지 모델링</a:t>
            </a:r>
            <a:endParaRPr lang="en-US" sz="1500" dirty="0"/>
          </a:p>
        </p:txBody>
      </p:sp>
      <p:sp>
        <p:nvSpPr>
          <p:cNvPr id="7" name="StatusChip"/>
          <p:cNvSpPr/>
          <p:nvPr/>
        </p:nvSpPr>
        <p:spPr>
          <a:xfrm>
            <a:off x="640080" y="2514600"/>
            <a:ext cx="1828800" cy="457200"/>
          </a:xfrm>
          <a:prstGeom prst="roundRect">
            <a:avLst>
              <a:gd name="adj" fmla="val 50000"/>
            </a:avLst>
          </a:prstGeom>
          <a:solidFill>
            <a:srgbClr val="B8C2D3"/>
          </a:solidFill>
          <a:ln w="12700">
            <a:solidFill>
              <a:srgbClr val="B8C2D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 txBox="1"/>
          <p:nvPr/>
        </p:nvSpPr>
        <p:spPr>
          <a:xfrm>
            <a:off x="640080" y="25146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기존 구축분 활용</a:t>
            </a:r>
            <a:endParaRPr lang="en-US" sz="1200" dirty="0"/>
          </a:p>
        </p:txBody>
      </p:sp>
      <p:sp>
        <p:nvSpPr>
          <p:cNvPr id="9" name="Arrow"/>
          <p:cNvSpPr/>
          <p:nvPr/>
        </p:nvSpPr>
        <p:spPr>
          <a:xfrm>
            <a:off x="2587752" y="1892808"/>
            <a:ext cx="196596" cy="0"/>
          </a:xfrm>
          <a:prstGeom prst="line">
            <a:avLst/>
          </a:prstGeom>
          <a:noFill/>
          <a:ln w="25400">
            <a:solidFill>
              <a:srgbClr val="F5A623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PipelineStep"/>
          <p:cNvSpPr/>
          <p:nvPr/>
        </p:nvSpPr>
        <p:spPr>
          <a:xfrm>
            <a:off x="2811780" y="1417320"/>
            <a:ext cx="2011680" cy="960120"/>
          </a:xfrm>
          <a:prstGeom prst="roundRect">
            <a:avLst>
              <a:gd name="adj" fmla="val 9524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 txBox="1"/>
          <p:nvPr/>
        </p:nvSpPr>
        <p:spPr>
          <a:xfrm>
            <a:off x="2811780" y="1417320"/>
            <a:ext cx="2011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데이터 추출·정제</a:t>
            </a:r>
            <a:endParaRPr lang="en-US" sz="1500" dirty="0"/>
          </a:p>
        </p:txBody>
      </p:sp>
      <p:sp>
        <p:nvSpPr>
          <p:cNvPr id="12" name="StatusChip"/>
          <p:cNvSpPr/>
          <p:nvPr/>
        </p:nvSpPr>
        <p:spPr>
          <a:xfrm>
            <a:off x="2903220" y="2514600"/>
            <a:ext cx="1828800" cy="457200"/>
          </a:xfrm>
          <a:prstGeom prst="roundRect">
            <a:avLst>
              <a:gd name="adj" fmla="val 50000"/>
            </a:avLst>
          </a:prstGeom>
          <a:solidFill>
            <a:srgbClr val="FFE9C7"/>
          </a:solidFill>
          <a:ln w="12700">
            <a:solidFill>
              <a:srgbClr val="FFE9C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 txBox="1"/>
          <p:nvPr/>
        </p:nvSpPr>
        <p:spPr>
          <a:xfrm>
            <a:off x="2903220" y="25146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A35F00"/>
                </a:solidFill>
              </a:rPr>
              <a:t>부분 (가상 데이터)</a:t>
            </a:r>
            <a:endParaRPr lang="en-US" sz="1200" dirty="0"/>
          </a:p>
        </p:txBody>
      </p:sp>
      <p:sp>
        <p:nvSpPr>
          <p:cNvPr id="14" name="Arrow"/>
          <p:cNvSpPr/>
          <p:nvPr/>
        </p:nvSpPr>
        <p:spPr>
          <a:xfrm>
            <a:off x="4850892" y="1892808"/>
            <a:ext cx="196596" cy="0"/>
          </a:xfrm>
          <a:prstGeom prst="line">
            <a:avLst/>
          </a:prstGeom>
          <a:noFill/>
          <a:ln w="25400">
            <a:solidFill>
              <a:srgbClr val="F5A623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PipelineStep"/>
          <p:cNvSpPr/>
          <p:nvPr/>
        </p:nvSpPr>
        <p:spPr>
          <a:xfrm>
            <a:off x="5074920" y="1417320"/>
            <a:ext cx="2011680" cy="960120"/>
          </a:xfrm>
          <a:prstGeom prst="roundRect">
            <a:avLst>
              <a:gd name="adj" fmla="val 9524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3"/>
          <p:cNvSpPr txBox="1"/>
          <p:nvPr/>
        </p:nvSpPr>
        <p:spPr>
          <a:xfrm>
            <a:off x="5074920" y="1417320"/>
            <a:ext cx="2011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지식그래프 구축</a:t>
            </a:r>
            <a:endParaRPr lang="en-US" sz="1500" dirty="0"/>
          </a:p>
        </p:txBody>
      </p:sp>
      <p:sp>
        <p:nvSpPr>
          <p:cNvPr id="17" name="StatusChip"/>
          <p:cNvSpPr/>
          <p:nvPr/>
        </p:nvSpPr>
        <p:spPr>
          <a:xfrm>
            <a:off x="5166360" y="2514600"/>
            <a:ext cx="1828800" cy="457200"/>
          </a:xfrm>
          <a:prstGeom prst="roundRect">
            <a:avLst>
              <a:gd name="adj" fmla="val 50000"/>
            </a:avLst>
          </a:prstGeom>
          <a:solidFill>
            <a:srgbClr val="FFE9C7"/>
          </a:solidFill>
          <a:ln w="12700">
            <a:solidFill>
              <a:srgbClr val="FFE9C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5"/>
          <p:cNvSpPr txBox="1"/>
          <p:nvPr/>
        </p:nvSpPr>
        <p:spPr>
          <a:xfrm>
            <a:off x="5166360" y="25146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A35F00"/>
                </a:solidFill>
              </a:rPr>
              <a:t>부분 (핵심 위험 경로)</a:t>
            </a:r>
            <a:endParaRPr lang="en-US" sz="1200" dirty="0"/>
          </a:p>
        </p:txBody>
      </p:sp>
      <p:sp>
        <p:nvSpPr>
          <p:cNvPr id="19" name="Arrow"/>
          <p:cNvSpPr/>
          <p:nvPr/>
        </p:nvSpPr>
        <p:spPr>
          <a:xfrm>
            <a:off x="7114032" y="1892808"/>
            <a:ext cx="196596" cy="0"/>
          </a:xfrm>
          <a:prstGeom prst="line">
            <a:avLst/>
          </a:prstGeom>
          <a:noFill/>
          <a:ln w="25400">
            <a:solidFill>
              <a:srgbClr val="F5A623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PipelineStep"/>
          <p:cNvSpPr/>
          <p:nvPr/>
        </p:nvSpPr>
        <p:spPr>
          <a:xfrm>
            <a:off x="7338060" y="1417320"/>
            <a:ext cx="2011680" cy="960120"/>
          </a:xfrm>
          <a:prstGeom prst="roundRect">
            <a:avLst>
              <a:gd name="adj" fmla="val 9524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8"/>
          <p:cNvSpPr txBox="1"/>
          <p:nvPr/>
        </p:nvSpPr>
        <p:spPr>
          <a:xfrm>
            <a:off x="7338060" y="1417320"/>
            <a:ext cx="2011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AI 추론·분석</a:t>
            </a:r>
            <a:endParaRPr lang="en-US" sz="1500" dirty="0"/>
          </a:p>
        </p:txBody>
      </p:sp>
      <p:sp>
        <p:nvSpPr>
          <p:cNvPr id="22" name="StatusChip"/>
          <p:cNvSpPr/>
          <p:nvPr/>
        </p:nvSpPr>
        <p:spPr>
          <a:xfrm>
            <a:off x="7429500" y="2514600"/>
            <a:ext cx="1828800" cy="457200"/>
          </a:xfrm>
          <a:prstGeom prst="roundRect">
            <a:avLst>
              <a:gd name="adj" fmla="val 50000"/>
            </a:avLst>
          </a:prstGeom>
          <a:solidFill>
            <a:srgbClr val="DFF5EA"/>
          </a:solidFill>
          <a:ln w="12700">
            <a:solidFill>
              <a:srgbClr val="DFF5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0"/>
          <p:cNvSpPr txBox="1"/>
          <p:nvPr/>
        </p:nvSpPr>
        <p:spPr>
          <a:xfrm>
            <a:off x="7429500" y="25146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67A52"/>
                </a:solidFill>
              </a:rPr>
              <a:t>완료 (MVP)</a:t>
            </a:r>
            <a:endParaRPr lang="en-US" sz="1200" dirty="0"/>
          </a:p>
        </p:txBody>
      </p:sp>
      <p:sp>
        <p:nvSpPr>
          <p:cNvPr id="24" name="Arrow"/>
          <p:cNvSpPr/>
          <p:nvPr/>
        </p:nvSpPr>
        <p:spPr>
          <a:xfrm>
            <a:off x="9377172" y="1892808"/>
            <a:ext cx="196596" cy="0"/>
          </a:xfrm>
          <a:prstGeom prst="line">
            <a:avLst/>
          </a:prstGeom>
          <a:noFill/>
          <a:ln w="25400">
            <a:solidFill>
              <a:srgbClr val="F5A623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PipelineStep"/>
          <p:cNvSpPr/>
          <p:nvPr/>
        </p:nvSpPr>
        <p:spPr>
          <a:xfrm>
            <a:off x="9601200" y="1417320"/>
            <a:ext cx="2011680" cy="960120"/>
          </a:xfrm>
          <a:prstGeom prst="roundRect">
            <a:avLst>
              <a:gd name="adj" fmla="val 9524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3"/>
          <p:cNvSpPr txBox="1"/>
          <p:nvPr/>
        </p:nvSpPr>
        <p:spPr>
          <a:xfrm>
            <a:off x="9601200" y="1417320"/>
            <a:ext cx="2011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포털시스템 개발</a:t>
            </a:r>
            <a:endParaRPr lang="en-US" sz="1500" dirty="0"/>
          </a:p>
        </p:txBody>
      </p:sp>
      <p:sp>
        <p:nvSpPr>
          <p:cNvPr id="27" name="StatusChip"/>
          <p:cNvSpPr/>
          <p:nvPr/>
        </p:nvSpPr>
        <p:spPr>
          <a:xfrm>
            <a:off x="9692640" y="2514600"/>
            <a:ext cx="1828800" cy="457200"/>
          </a:xfrm>
          <a:prstGeom prst="roundRect">
            <a:avLst>
              <a:gd name="adj" fmla="val 50000"/>
            </a:avLst>
          </a:prstGeom>
          <a:solidFill>
            <a:srgbClr val="DFF5EA"/>
          </a:solidFill>
          <a:ln w="12700">
            <a:solidFill>
              <a:srgbClr val="DFF5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5"/>
          <p:cNvSpPr txBox="1"/>
          <p:nvPr/>
        </p:nvSpPr>
        <p:spPr>
          <a:xfrm>
            <a:off x="9692640" y="25146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67A52"/>
                </a:solidFill>
              </a:rPr>
              <a:t>완료 (MVP)</a:t>
            </a:r>
            <a:endParaRPr lang="en-US" sz="1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154680"/>
          <a:ext cx="11064240" cy="2560320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32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기획서 화면</a:t>
                      </a:r>
                      <a:endParaRPr lang="en-US" sz="1300" dirty="0"/>
                    </a:p>
                  </a:txBody>
                  <a:tcPr marT="0" marB="0" anchor="ctr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상태</a:t>
                      </a:r>
                      <a:endParaRPr lang="en-US" sz="1300" dirty="0"/>
                    </a:p>
                  </a:txBody>
                  <a:tcPr marT="0" marB="0" anchor="ctr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비고</a:t>
                      </a:r>
                      <a:endParaRPr lang="en-US" sz="1300" dirty="0"/>
                    </a:p>
                  </a:txBody>
                  <a:tcPr marT="0" marB="0" anchor="ctr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433"/>
                          </a:solidFill>
                        </a:rPr>
                        <a:t>로그인</a:t>
                      </a:r>
                      <a:endParaRPr lang="en-US" sz="1300" dirty="0"/>
                    </a:p>
                  </a:txBody>
                  <a:tcPr marT="0" marB="0" anchor="ctr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FA971"/>
                          </a:solidFill>
                        </a:rPr>
                        <a:t>구현</a:t>
                      </a:r>
                      <a:endParaRPr lang="en-US" sz="1300" dirty="0"/>
                    </a:p>
                  </a:txBody>
                  <a:tcPr marT="0" marB="0" anchor="ctr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433"/>
                          </a:solidFill>
                        </a:rPr>
                        <a:t>단일 관리자 계정</a:t>
                      </a:r>
                      <a:endParaRPr lang="en-US" sz="1300" dirty="0"/>
                    </a:p>
                  </a:txBody>
                  <a:tcPr marT="0" marB="0" anchor="ctr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433"/>
                          </a:solidFill>
                        </a:rPr>
                        <a:t>대시보드</a:t>
                      </a:r>
                      <a:endParaRPr lang="en-US" sz="1300" dirty="0"/>
                    </a:p>
                  </a:txBody>
                  <a:tcPr marT="0" marB="0" anchor="ctr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FA971"/>
                          </a:solidFill>
                        </a:rPr>
                        <a:t>구현</a:t>
                      </a:r>
                      <a:endParaRPr lang="en-US" sz="1300" dirty="0"/>
                    </a:p>
                  </a:txBody>
                  <a:tcPr marT="0" marB="0" anchor="ctr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433"/>
                          </a:solidFill>
                        </a:rPr>
                        <a:t>수요 비중 차트 → AI 위험 알림으로 변경</a:t>
                      </a:r>
                      <a:endParaRPr lang="en-US" sz="1300" dirty="0"/>
                    </a:p>
                  </a:txBody>
                  <a:tcPr marT="0" marB="0" anchor="ctr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433"/>
                          </a:solidFill>
                        </a:rPr>
                        <a:t>수요예측 분석</a:t>
                      </a:r>
                      <a:endParaRPr lang="en-US" sz="1300" dirty="0"/>
                    </a:p>
                  </a:txBody>
                  <a:tcPr marT="0" marB="0" anchor="ctr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FA971"/>
                          </a:solidFill>
                        </a:rPr>
                        <a:t>구현</a:t>
                      </a:r>
                      <a:endParaRPr lang="en-US" sz="1300" dirty="0"/>
                    </a:p>
                  </a:txBody>
                  <a:tcPr marT="0" marB="0" anchor="ctr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433"/>
                          </a:solidFill>
                        </a:rPr>
                        <a:t>자재·기간 조회, 정확도 표시</a:t>
                      </a:r>
                      <a:endParaRPr lang="en-US" sz="1300" dirty="0"/>
                    </a:p>
                  </a:txBody>
                  <a:tcPr marT="0" marB="0" anchor="ctr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433"/>
                          </a:solidFill>
                        </a:rPr>
                        <a:t>발주 관리</a:t>
                      </a:r>
                      <a:endParaRPr lang="en-US" sz="1300" dirty="0"/>
                    </a:p>
                  </a:txBody>
                  <a:tcPr marT="0" marB="0" anchor="ctr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FA971"/>
                          </a:solidFill>
                        </a:rPr>
                        <a:t>구현</a:t>
                      </a:r>
                      <a:endParaRPr lang="en-US" sz="1300" dirty="0"/>
                    </a:p>
                  </a:txBody>
                  <a:tcPr marT="0" marB="0" anchor="ctr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433"/>
                          </a:solidFill>
                        </a:rPr>
                        <a:t>발주 등록·상태 변경 추가</a:t>
                      </a:r>
                      <a:endParaRPr lang="en-US" sz="1300" dirty="0"/>
                    </a:p>
                  </a:txBody>
                  <a:tcPr marT="0" marB="0" anchor="ctr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433"/>
                          </a:solidFill>
                        </a:rPr>
                        <a:t>재고 현황</a:t>
                      </a:r>
                      <a:endParaRPr lang="en-US" sz="1300" dirty="0"/>
                    </a:p>
                  </a:txBody>
                  <a:tcPr marT="0" marB="0" anchor="ctr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FA971"/>
                          </a:solidFill>
                        </a:rPr>
                        <a:t>구현</a:t>
                      </a:r>
                      <a:endParaRPr lang="en-US" sz="1300" dirty="0"/>
                    </a:p>
                  </a:txBody>
                  <a:tcPr marT="0" marB="0" anchor="ctr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433"/>
                          </a:solidFill>
                        </a:rPr>
                        <a:t>권장 발주량·소진 예상일 추가</a:t>
                      </a:r>
                      <a:endParaRPr lang="en-US" sz="1300" dirty="0"/>
                    </a:p>
                  </a:txBody>
                  <a:tcPr marT="0" marB="0" anchor="ctr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433"/>
                          </a:solidFill>
                        </a:rPr>
                        <a:t>시뮬레이션</a:t>
                      </a:r>
                      <a:endParaRPr lang="en-US" sz="1300" dirty="0"/>
                    </a:p>
                  </a:txBody>
                  <a:tcPr marT="0" marB="0" anchor="ctr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FA971"/>
                          </a:solidFill>
                        </a:rPr>
                        <a:t>구현</a:t>
                      </a:r>
                      <a:endParaRPr lang="en-US" sz="1300" dirty="0"/>
                    </a:p>
                  </a:txBody>
                  <a:tcPr marT="0" marB="0" anchor="ctr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433"/>
                          </a:solidFill>
                        </a:rPr>
                        <a:t>시나리오 비교 탭 추가</a:t>
                      </a:r>
                      <a:endParaRPr lang="en-US" sz="1300" dirty="0"/>
                    </a:p>
                  </a:txBody>
                  <a:tcPr marT="0" marB="0" anchor="ctr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0" name="Text 26"/>
          <p:cNvSpPr txBox="1"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accent6"/>
                </a:solidFill>
              </a:rPr>
              <a:t>※ 추가 구현: 데이터 관리, 설정 화면 · 기획서의 이행률 목표(85% 이상)는 지표로 구현(현재 88.2%, 샘플 데이터 기준)</a:t>
            </a:r>
            <a:endParaRPr lang="en-US" sz="130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이슈와 한계</a:t>
            </a:r>
            <a:endParaRPr lang="en-US" sz="3000" dirty="0"/>
          </a:p>
        </p:txBody>
      </p:sp>
      <p:sp>
        <p:nvSpPr>
          <p:cNvPr id="3" name="Eyebrow"/>
          <p:cNvSpPr txBox="1"/>
          <p:nvPr/>
        </p:nvSpPr>
        <p:spPr>
          <a:xfrm>
            <a:off x="54864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진행 평가</a:t>
            </a:r>
            <a:endParaRPr lang="en-US" sz="1200" dirty="0"/>
          </a:p>
        </p:txBody>
      </p:sp>
      <p:sp>
        <p:nvSpPr>
          <p:cNvPr id="5" name="Card"/>
          <p:cNvSpPr/>
          <p:nvPr/>
        </p:nvSpPr>
        <p:spPr>
          <a:xfrm>
            <a:off x="548640" y="1417320"/>
            <a:ext cx="3566160" cy="2331720"/>
          </a:xfrm>
          <a:prstGeom prst="roundRect">
            <a:avLst>
              <a:gd name="adj" fmla="val 3922"/>
            </a:avLst>
          </a:prstGeom>
          <a:solidFill>
            <a:schemeClr val="bg1"/>
          </a:solidFill>
          <a:ln w="9525">
            <a:solidFill>
              <a:srgbClr val="E3E8F2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 txBox="1"/>
          <p:nvPr/>
        </p:nvSpPr>
        <p:spPr>
          <a:xfrm>
            <a:off x="822960" y="16002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데이터가 가상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14884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수요·가격·프로젝트는 synthetic이라 수치는 참고용</a:t>
            </a:r>
            <a:endParaRPr lang="en-US" sz="1400" dirty="0"/>
          </a:p>
        </p:txBody>
      </p:sp>
      <p:sp>
        <p:nvSpPr>
          <p:cNvPr id="8" name="ResponseChip"/>
          <p:cNvSpPr/>
          <p:nvPr/>
        </p:nvSpPr>
        <p:spPr>
          <a:xfrm>
            <a:off x="731520" y="3063240"/>
            <a:ext cx="3200400" cy="502920"/>
          </a:xfrm>
          <a:prstGeom prst="roundRect">
            <a:avLst>
              <a:gd name="adj" fmla="val 14545"/>
            </a:avLst>
          </a:prstGeom>
          <a:solidFill>
            <a:srgbClr val="DCE8F7"/>
          </a:solidFill>
          <a:ln w="12700">
            <a:solidFill>
              <a:srgbClr val="DCE8F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 txBox="1"/>
          <p:nvPr/>
        </p:nvSpPr>
        <p:spPr>
          <a:xfrm>
            <a:off x="731520" y="306324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2"/>
                </a:solidFill>
              </a:rPr>
              <a:t>대응: 실데이터로 전환 후 재검증</a:t>
            </a:r>
            <a:endParaRPr lang="en-US" sz="1300" dirty="0"/>
          </a:p>
        </p:txBody>
      </p:sp>
      <p:sp>
        <p:nvSpPr>
          <p:cNvPr id="10" name="Card"/>
          <p:cNvSpPr/>
          <p:nvPr/>
        </p:nvSpPr>
        <p:spPr>
          <a:xfrm>
            <a:off x="4297680" y="1417320"/>
            <a:ext cx="3566160" cy="2331720"/>
          </a:xfrm>
          <a:prstGeom prst="roundRect">
            <a:avLst>
              <a:gd name="adj" fmla="val 3922"/>
            </a:avLst>
          </a:prstGeom>
          <a:solidFill>
            <a:schemeClr val="bg1"/>
          </a:solidFill>
          <a:ln w="9525">
            <a:solidFill>
              <a:srgbClr val="E3E8F2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 txBox="1"/>
          <p:nvPr/>
        </p:nvSpPr>
        <p:spPr>
          <a:xfrm>
            <a:off x="4572000" y="16002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발주·재고는 샘플</a:t>
            </a:r>
            <a:endParaRPr lang="en-US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4572000" y="214884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ERP 연동 없이 Supabase 샘플 데이터 사용</a:t>
            </a:r>
            <a:endParaRPr lang="en-US" sz="1400" dirty="0"/>
          </a:p>
        </p:txBody>
      </p:sp>
      <p:sp>
        <p:nvSpPr>
          <p:cNvPr id="13" name="ResponseChip"/>
          <p:cNvSpPr/>
          <p:nvPr/>
        </p:nvSpPr>
        <p:spPr>
          <a:xfrm>
            <a:off x="4480560" y="3063240"/>
            <a:ext cx="3200400" cy="502920"/>
          </a:xfrm>
          <a:prstGeom prst="roundRect">
            <a:avLst>
              <a:gd name="adj" fmla="val 14545"/>
            </a:avLst>
          </a:prstGeom>
          <a:solidFill>
            <a:srgbClr val="DCE8F7"/>
          </a:solidFill>
          <a:ln w="12700">
            <a:solidFill>
              <a:srgbClr val="DCE8F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 txBox="1"/>
          <p:nvPr/>
        </p:nvSpPr>
        <p:spPr>
          <a:xfrm>
            <a:off x="4480560" y="306324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2"/>
                </a:solidFill>
              </a:rPr>
              <a:t>대응: ERP·AMS 접근 방법 협의</a:t>
            </a:r>
            <a:endParaRPr lang="en-US" sz="1300" dirty="0"/>
          </a:p>
        </p:txBody>
      </p:sp>
      <p:sp>
        <p:nvSpPr>
          <p:cNvPr id="15" name="Card"/>
          <p:cNvSpPr/>
          <p:nvPr/>
        </p:nvSpPr>
        <p:spPr>
          <a:xfrm>
            <a:off x="8046720" y="1417320"/>
            <a:ext cx="3566160" cy="2331720"/>
          </a:xfrm>
          <a:prstGeom prst="roundRect">
            <a:avLst>
              <a:gd name="adj" fmla="val 3922"/>
            </a:avLst>
          </a:prstGeom>
          <a:solidFill>
            <a:schemeClr val="bg1"/>
          </a:solidFill>
          <a:ln w="9525">
            <a:solidFill>
              <a:srgbClr val="E3E8F2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3"/>
          <p:cNvSpPr txBox="1"/>
          <p:nvPr/>
        </p:nvSpPr>
        <p:spPr>
          <a:xfrm>
            <a:off x="8321040" y="16002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예측은 통계 모델</a:t>
            </a:r>
            <a:endParaRPr lang="en-US" sz="1700" dirty="0"/>
          </a:p>
        </p:txBody>
      </p:sp>
      <p:sp>
        <p:nvSpPr>
          <p:cNvPr id="17" name="Text 14"/>
          <p:cNvSpPr txBox="1"/>
          <p:nvPr/>
        </p:nvSpPr>
        <p:spPr>
          <a:xfrm>
            <a:off x="8321040" y="214884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추세·계절 2개 피처, 머신러닝 미사용</a:t>
            </a:r>
            <a:endParaRPr lang="en-US" sz="1400" dirty="0"/>
          </a:p>
        </p:txBody>
      </p:sp>
      <p:sp>
        <p:nvSpPr>
          <p:cNvPr id="18" name="ResponseChip"/>
          <p:cNvSpPr/>
          <p:nvPr/>
        </p:nvSpPr>
        <p:spPr>
          <a:xfrm>
            <a:off x="8229600" y="3063240"/>
            <a:ext cx="3200400" cy="502920"/>
          </a:xfrm>
          <a:prstGeom prst="roundRect">
            <a:avLst>
              <a:gd name="adj" fmla="val 14545"/>
            </a:avLst>
          </a:prstGeom>
          <a:solidFill>
            <a:srgbClr val="DCE8F7"/>
          </a:solidFill>
          <a:ln w="12700">
            <a:solidFill>
              <a:srgbClr val="DCE8F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6"/>
          <p:cNvSpPr txBox="1"/>
          <p:nvPr/>
        </p:nvSpPr>
        <p:spPr>
          <a:xfrm>
            <a:off x="8229600" y="306324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2"/>
                </a:solidFill>
              </a:rPr>
              <a:t>대응: 외생변수 추가 후 ML과 비교</a:t>
            </a:r>
            <a:endParaRPr lang="en-US" sz="1300" dirty="0"/>
          </a:p>
        </p:txBody>
      </p:sp>
      <p:sp>
        <p:nvSpPr>
          <p:cNvPr id="20" name="Card"/>
          <p:cNvSpPr/>
          <p:nvPr/>
        </p:nvSpPr>
        <p:spPr>
          <a:xfrm>
            <a:off x="548640" y="3977640"/>
            <a:ext cx="3566160" cy="2331720"/>
          </a:xfrm>
          <a:prstGeom prst="roundRect">
            <a:avLst>
              <a:gd name="adj" fmla="val 3922"/>
            </a:avLst>
          </a:prstGeom>
          <a:solidFill>
            <a:schemeClr val="bg1"/>
          </a:solidFill>
          <a:ln w="9525">
            <a:solidFill>
              <a:srgbClr val="E3E8F2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8"/>
          <p:cNvSpPr txBox="1"/>
          <p:nvPr/>
        </p:nvSpPr>
        <p:spPr>
          <a:xfrm>
            <a:off x="822960" y="41605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시나리오는 가정치</a:t>
            </a:r>
            <a:endParaRPr lang="en-US" sz="1700" dirty="0"/>
          </a:p>
        </p:txBody>
      </p:sp>
      <p:sp>
        <p:nvSpPr>
          <p:cNvPr id="22" name="Text 19"/>
          <p:cNvSpPr txBox="1"/>
          <p:nvPr/>
        </p:nvSpPr>
        <p:spPr>
          <a:xfrm>
            <a:off x="822960" y="470916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수요 +20%, 납기 30일은 임의 설정</a:t>
            </a:r>
            <a:endParaRPr lang="en-US" sz="1400" dirty="0"/>
          </a:p>
        </p:txBody>
      </p:sp>
      <p:sp>
        <p:nvSpPr>
          <p:cNvPr id="23" name="ResponseChip"/>
          <p:cNvSpPr/>
          <p:nvPr/>
        </p:nvSpPr>
        <p:spPr>
          <a:xfrm>
            <a:off x="731520" y="5623560"/>
            <a:ext cx="3200400" cy="502920"/>
          </a:xfrm>
          <a:prstGeom prst="roundRect">
            <a:avLst>
              <a:gd name="adj" fmla="val 14545"/>
            </a:avLst>
          </a:prstGeom>
          <a:solidFill>
            <a:srgbClr val="DCE8F7"/>
          </a:solidFill>
          <a:ln w="12700">
            <a:solidFill>
              <a:srgbClr val="DCE8F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1"/>
          <p:cNvSpPr txBox="1"/>
          <p:nvPr/>
        </p:nvSpPr>
        <p:spPr>
          <a:xfrm>
            <a:off x="731520" y="562356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2"/>
                </a:solidFill>
              </a:rPr>
              <a:t>대응: 과거 분포·실제 입고일 기반으로 교체</a:t>
            </a:r>
            <a:endParaRPr lang="en-US" sz="1300" dirty="0"/>
          </a:p>
        </p:txBody>
      </p:sp>
      <p:sp>
        <p:nvSpPr>
          <p:cNvPr id="25" name="Card"/>
          <p:cNvSpPr/>
          <p:nvPr/>
        </p:nvSpPr>
        <p:spPr>
          <a:xfrm>
            <a:off x="4297680" y="3977640"/>
            <a:ext cx="3566160" cy="2331720"/>
          </a:xfrm>
          <a:prstGeom prst="roundRect">
            <a:avLst>
              <a:gd name="adj" fmla="val 3922"/>
            </a:avLst>
          </a:prstGeom>
          <a:solidFill>
            <a:schemeClr val="bg1"/>
          </a:solidFill>
          <a:ln w="9525">
            <a:solidFill>
              <a:srgbClr val="E3E8F2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3"/>
          <p:cNvSpPr txBox="1"/>
          <p:nvPr/>
        </p:nvSpPr>
        <p:spPr>
          <a:xfrm>
            <a:off x="4572000" y="41605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단일 계정</a:t>
            </a:r>
            <a:endParaRPr lang="en-US" sz="1700" dirty="0"/>
          </a:p>
        </p:txBody>
      </p:sp>
      <p:sp>
        <p:nvSpPr>
          <p:cNvPr id="27" name="Text 24"/>
          <p:cNvSpPr txBox="1"/>
          <p:nvPr/>
        </p:nvSpPr>
        <p:spPr>
          <a:xfrm>
            <a:off x="4572000" y="470916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역할 구분·감사 로그·로그인 제한 없음</a:t>
            </a:r>
            <a:endParaRPr lang="en-US" sz="1400" dirty="0"/>
          </a:p>
        </p:txBody>
      </p:sp>
      <p:sp>
        <p:nvSpPr>
          <p:cNvPr id="28" name="ResponseChip"/>
          <p:cNvSpPr/>
          <p:nvPr/>
        </p:nvSpPr>
        <p:spPr>
          <a:xfrm>
            <a:off x="4480560" y="5623560"/>
            <a:ext cx="3200400" cy="502920"/>
          </a:xfrm>
          <a:prstGeom prst="roundRect">
            <a:avLst>
              <a:gd name="adj" fmla="val 14545"/>
            </a:avLst>
          </a:prstGeom>
          <a:solidFill>
            <a:srgbClr val="DCE8F7"/>
          </a:solidFill>
          <a:ln w="12700">
            <a:solidFill>
              <a:srgbClr val="DCE8F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6"/>
          <p:cNvSpPr txBox="1"/>
          <p:nvPr/>
        </p:nvSpPr>
        <p:spPr>
          <a:xfrm>
            <a:off x="4480560" y="562356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2"/>
                </a:solidFill>
              </a:rPr>
              <a:t>대응: 관리자 페이지와 권한 분리</a:t>
            </a:r>
            <a:endParaRPr lang="en-US" sz="1300" dirty="0"/>
          </a:p>
        </p:txBody>
      </p:sp>
      <p:sp>
        <p:nvSpPr>
          <p:cNvPr id="30" name="Card"/>
          <p:cNvSpPr/>
          <p:nvPr/>
        </p:nvSpPr>
        <p:spPr>
          <a:xfrm>
            <a:off x="8046720" y="3977640"/>
            <a:ext cx="3566160" cy="2331720"/>
          </a:xfrm>
          <a:prstGeom prst="roundRect">
            <a:avLst>
              <a:gd name="adj" fmla="val 3922"/>
            </a:avLst>
          </a:prstGeom>
          <a:solidFill>
            <a:srgbClr val="FFF6E3"/>
          </a:solidFill>
          <a:ln w="9525">
            <a:solidFill>
              <a:srgbClr val="F5D78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8"/>
          <p:cNvSpPr txBox="1"/>
          <p:nvPr/>
        </p:nvSpPr>
        <p:spPr>
          <a:xfrm>
            <a:off x="8321040" y="41605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보고 시 유의</a:t>
            </a:r>
            <a:endParaRPr lang="en-US" sz="1700" dirty="0"/>
          </a:p>
        </p:txBody>
      </p:sp>
      <p:sp>
        <p:nvSpPr>
          <p:cNvPr id="32" name="Text 29"/>
          <p:cNvSpPr txBox="1"/>
          <p:nvPr/>
        </p:nvSpPr>
        <p:spPr>
          <a:xfrm>
            <a:off x="8321040" y="470916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정확도 89.5~95.3%는 가상 데이터 기준 백테스트 값이며, 실데이터 성능을 보장하지 않습니다.</a:t>
            </a:r>
            <a:endParaRPr lang="en-US" sz="1400" dirty="0"/>
          </a:p>
        </p:txBody>
      </p:sp>
      <p:sp>
        <p:nvSpPr>
          <p:cNvPr id="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향후 계획과 결정 요청</a:t>
            </a:r>
            <a:endParaRPr lang="en-US" sz="3000" dirty="0"/>
          </a:p>
        </p:txBody>
      </p:sp>
      <p:sp>
        <p:nvSpPr>
          <p:cNvPr id="3" name="Eyebrow"/>
          <p:cNvSpPr txBox="1"/>
          <p:nvPr/>
        </p:nvSpPr>
        <p:spPr>
          <a:xfrm>
            <a:off x="54864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다음 단계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258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바로 진행 가능 (우선순위)</a:t>
            </a:r>
            <a:endParaRPr lang="en-US" sz="1500" dirty="0"/>
          </a:p>
        </p:txBody>
      </p:sp>
      <p:sp>
        <p:nvSpPr>
          <p:cNvPr id="6" name="Card"/>
          <p:cNvSpPr/>
          <p:nvPr/>
        </p:nvSpPr>
        <p:spPr>
          <a:xfrm>
            <a:off x="548640" y="1737360"/>
            <a:ext cx="6400800" cy="749808"/>
          </a:xfrm>
          <a:prstGeom prst="roundRect">
            <a:avLst>
              <a:gd name="adj" fmla="val 12195"/>
            </a:avLst>
          </a:prstGeom>
          <a:solidFill>
            <a:schemeClr val="bg1"/>
          </a:solidFill>
          <a:ln w="9525">
            <a:solidFill>
              <a:srgbClr val="E3E8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Badge"/>
          <p:cNvSpPr/>
          <p:nvPr/>
        </p:nvSpPr>
        <p:spPr>
          <a:xfrm>
            <a:off x="731520" y="1920240"/>
            <a:ext cx="384048" cy="384048"/>
          </a:xfrm>
          <a:prstGeom prst="ellipse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 txBox="1"/>
          <p:nvPr/>
        </p:nvSpPr>
        <p:spPr>
          <a:xfrm>
            <a:off x="731520" y="1920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1280160" y="1737360"/>
            <a:ext cx="4663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CSV·엑셀 다운로드</a:t>
            </a:r>
            <a:endParaRPr lang="en-US" sz="1400" dirty="0"/>
          </a:p>
        </p:txBody>
      </p:sp>
      <p:sp>
        <p:nvSpPr>
          <p:cNvPr id="10" name="SizeChip"/>
          <p:cNvSpPr/>
          <p:nvPr/>
        </p:nvSpPr>
        <p:spPr>
          <a:xfrm>
            <a:off x="6035040" y="1929384"/>
            <a:ext cx="731520" cy="365760"/>
          </a:xfrm>
          <a:prstGeom prst="roundRect">
            <a:avLst>
              <a:gd name="adj" fmla="val 50000"/>
            </a:avLst>
          </a:prstGeom>
          <a:solidFill>
            <a:srgbClr val="DCE8F7"/>
          </a:solidFill>
          <a:ln w="12700">
            <a:solidFill>
              <a:srgbClr val="DCE8F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 txBox="1"/>
          <p:nvPr/>
        </p:nvSpPr>
        <p:spPr>
          <a:xfrm>
            <a:off x="6035040" y="1929384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2"/>
                </a:solidFill>
              </a:rPr>
              <a:t>소~중</a:t>
            </a:r>
            <a:endParaRPr lang="en-US" sz="1200" dirty="0"/>
          </a:p>
        </p:txBody>
      </p:sp>
      <p:sp>
        <p:nvSpPr>
          <p:cNvPr id="12" name="Card"/>
          <p:cNvSpPr/>
          <p:nvPr/>
        </p:nvSpPr>
        <p:spPr>
          <a:xfrm>
            <a:off x="548640" y="2633472"/>
            <a:ext cx="6400800" cy="749808"/>
          </a:xfrm>
          <a:prstGeom prst="roundRect">
            <a:avLst>
              <a:gd name="adj" fmla="val 12195"/>
            </a:avLst>
          </a:prstGeom>
          <a:solidFill>
            <a:schemeClr val="bg1"/>
          </a:solidFill>
          <a:ln w="9525">
            <a:solidFill>
              <a:srgbClr val="E3E8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Badge"/>
          <p:cNvSpPr/>
          <p:nvPr/>
        </p:nvSpPr>
        <p:spPr>
          <a:xfrm>
            <a:off x="731520" y="2816352"/>
            <a:ext cx="384048" cy="384048"/>
          </a:xfrm>
          <a:prstGeom prst="ellipse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 txBox="1"/>
          <p:nvPr/>
        </p:nvSpPr>
        <p:spPr>
          <a:xfrm>
            <a:off x="731520" y="28163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1280160" y="2633472"/>
            <a:ext cx="4663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시뮬레이션 개선 (재고 선, 기준 대비 증감, 데이터 기반 시나리오)</a:t>
            </a:r>
            <a:endParaRPr lang="en-US" sz="1400" dirty="0"/>
          </a:p>
        </p:txBody>
      </p:sp>
      <p:sp>
        <p:nvSpPr>
          <p:cNvPr id="16" name="SizeChip"/>
          <p:cNvSpPr/>
          <p:nvPr/>
        </p:nvSpPr>
        <p:spPr>
          <a:xfrm>
            <a:off x="6035040" y="2825496"/>
            <a:ext cx="731520" cy="365760"/>
          </a:xfrm>
          <a:prstGeom prst="roundRect">
            <a:avLst>
              <a:gd name="adj" fmla="val 50000"/>
            </a:avLst>
          </a:prstGeom>
          <a:solidFill>
            <a:srgbClr val="DCE8F7"/>
          </a:solidFill>
          <a:ln w="12700">
            <a:solidFill>
              <a:srgbClr val="DCE8F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 txBox="1"/>
          <p:nvPr/>
        </p:nvSpPr>
        <p:spPr>
          <a:xfrm>
            <a:off x="6035040" y="2825496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2"/>
                </a:solidFill>
              </a:rPr>
              <a:t>소~중</a:t>
            </a:r>
            <a:endParaRPr lang="en-US" sz="1200" dirty="0"/>
          </a:p>
        </p:txBody>
      </p:sp>
      <p:sp>
        <p:nvSpPr>
          <p:cNvPr id="18" name="Card"/>
          <p:cNvSpPr/>
          <p:nvPr/>
        </p:nvSpPr>
        <p:spPr>
          <a:xfrm>
            <a:off x="548640" y="3529584"/>
            <a:ext cx="6400800" cy="749808"/>
          </a:xfrm>
          <a:prstGeom prst="roundRect">
            <a:avLst>
              <a:gd name="adj" fmla="val 12195"/>
            </a:avLst>
          </a:prstGeom>
          <a:solidFill>
            <a:schemeClr val="bg1"/>
          </a:solidFill>
          <a:ln w="9525">
            <a:solidFill>
              <a:srgbClr val="E3E8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Badge"/>
          <p:cNvSpPr/>
          <p:nvPr/>
        </p:nvSpPr>
        <p:spPr>
          <a:xfrm>
            <a:off x="731520" y="3712464"/>
            <a:ext cx="384048" cy="384048"/>
          </a:xfrm>
          <a:prstGeom prst="ellipse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7"/>
          <p:cNvSpPr txBox="1"/>
          <p:nvPr/>
        </p:nvSpPr>
        <p:spPr>
          <a:xfrm>
            <a:off x="731520" y="37124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1280160" y="3529584"/>
            <a:ext cx="4663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위험·재고 연결, 권장 발주 원클릭 등록</a:t>
            </a:r>
            <a:endParaRPr lang="en-US" sz="1400" dirty="0"/>
          </a:p>
        </p:txBody>
      </p:sp>
      <p:sp>
        <p:nvSpPr>
          <p:cNvPr id="22" name="SizeChip"/>
          <p:cNvSpPr/>
          <p:nvPr/>
        </p:nvSpPr>
        <p:spPr>
          <a:xfrm>
            <a:off x="6035040" y="3721608"/>
            <a:ext cx="731520" cy="365760"/>
          </a:xfrm>
          <a:prstGeom prst="roundRect">
            <a:avLst>
              <a:gd name="adj" fmla="val 50000"/>
            </a:avLst>
          </a:prstGeom>
          <a:solidFill>
            <a:srgbClr val="DCE8F7"/>
          </a:solidFill>
          <a:ln w="12700">
            <a:solidFill>
              <a:srgbClr val="DCE8F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0"/>
          <p:cNvSpPr txBox="1"/>
          <p:nvPr/>
        </p:nvSpPr>
        <p:spPr>
          <a:xfrm>
            <a:off x="6035040" y="372160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2"/>
                </a:solidFill>
              </a:rPr>
              <a:t>중</a:t>
            </a:r>
            <a:endParaRPr lang="en-US" sz="1200" dirty="0"/>
          </a:p>
        </p:txBody>
      </p:sp>
      <p:sp>
        <p:nvSpPr>
          <p:cNvPr id="24" name="Card"/>
          <p:cNvSpPr/>
          <p:nvPr/>
        </p:nvSpPr>
        <p:spPr>
          <a:xfrm>
            <a:off x="548640" y="4425696"/>
            <a:ext cx="6400800" cy="749808"/>
          </a:xfrm>
          <a:prstGeom prst="roundRect">
            <a:avLst>
              <a:gd name="adj" fmla="val 12195"/>
            </a:avLst>
          </a:prstGeom>
          <a:solidFill>
            <a:schemeClr val="bg1"/>
          </a:solidFill>
          <a:ln w="9525">
            <a:solidFill>
              <a:srgbClr val="E3E8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Badge"/>
          <p:cNvSpPr/>
          <p:nvPr/>
        </p:nvSpPr>
        <p:spPr>
          <a:xfrm>
            <a:off x="731520" y="4608576"/>
            <a:ext cx="384048" cy="384048"/>
          </a:xfrm>
          <a:prstGeom prst="ellipse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3"/>
          <p:cNvSpPr txBox="1"/>
          <p:nvPr/>
        </p:nvSpPr>
        <p:spPr>
          <a:xfrm>
            <a:off x="731520" y="46085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1280160" y="4425696"/>
            <a:ext cx="4663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비밀번호 해시, 로그인 시도 제한</a:t>
            </a:r>
            <a:endParaRPr lang="en-US" sz="1400" dirty="0"/>
          </a:p>
        </p:txBody>
      </p:sp>
      <p:sp>
        <p:nvSpPr>
          <p:cNvPr id="28" name="SizeChip"/>
          <p:cNvSpPr/>
          <p:nvPr/>
        </p:nvSpPr>
        <p:spPr>
          <a:xfrm>
            <a:off x="6035040" y="4617720"/>
            <a:ext cx="731520" cy="365760"/>
          </a:xfrm>
          <a:prstGeom prst="roundRect">
            <a:avLst>
              <a:gd name="adj" fmla="val 50000"/>
            </a:avLst>
          </a:prstGeom>
          <a:solidFill>
            <a:srgbClr val="DCE8F7"/>
          </a:solidFill>
          <a:ln w="12700">
            <a:solidFill>
              <a:srgbClr val="DCE8F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6"/>
          <p:cNvSpPr txBox="1"/>
          <p:nvPr/>
        </p:nvSpPr>
        <p:spPr>
          <a:xfrm>
            <a:off x="6035040" y="461772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2"/>
                </a:solidFill>
              </a:rPr>
              <a:t>중</a:t>
            </a:r>
            <a:endParaRPr lang="en-US" sz="1200" dirty="0"/>
          </a:p>
        </p:txBody>
      </p:sp>
      <p:sp>
        <p:nvSpPr>
          <p:cNvPr id="30" name="Card"/>
          <p:cNvSpPr/>
          <p:nvPr/>
        </p:nvSpPr>
        <p:spPr>
          <a:xfrm>
            <a:off x="548640" y="5321808"/>
            <a:ext cx="6400800" cy="749808"/>
          </a:xfrm>
          <a:prstGeom prst="roundRect">
            <a:avLst>
              <a:gd name="adj" fmla="val 12195"/>
            </a:avLst>
          </a:prstGeom>
          <a:solidFill>
            <a:schemeClr val="bg1"/>
          </a:solidFill>
          <a:ln w="9525">
            <a:solidFill>
              <a:srgbClr val="E3E8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Badge"/>
          <p:cNvSpPr/>
          <p:nvPr/>
        </p:nvSpPr>
        <p:spPr>
          <a:xfrm>
            <a:off x="731520" y="5504688"/>
            <a:ext cx="384048" cy="384048"/>
          </a:xfrm>
          <a:prstGeom prst="ellipse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29"/>
          <p:cNvSpPr txBox="1"/>
          <p:nvPr/>
        </p:nvSpPr>
        <p:spPr>
          <a:xfrm>
            <a:off x="731520" y="5504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33" name="Text 30"/>
          <p:cNvSpPr txBox="1"/>
          <p:nvPr/>
        </p:nvSpPr>
        <p:spPr>
          <a:xfrm>
            <a:off x="1280160" y="5321808"/>
            <a:ext cx="4663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관리자 페이지·역할 분리 (SQL 1회 실행 필요)</a:t>
            </a:r>
            <a:endParaRPr lang="en-US" sz="1400" dirty="0"/>
          </a:p>
        </p:txBody>
      </p:sp>
      <p:sp>
        <p:nvSpPr>
          <p:cNvPr id="34" name="SizeChip"/>
          <p:cNvSpPr/>
          <p:nvPr/>
        </p:nvSpPr>
        <p:spPr>
          <a:xfrm>
            <a:off x="6035040" y="5513832"/>
            <a:ext cx="731520" cy="365760"/>
          </a:xfrm>
          <a:prstGeom prst="roundRect">
            <a:avLst>
              <a:gd name="adj" fmla="val 50000"/>
            </a:avLst>
          </a:prstGeom>
          <a:solidFill>
            <a:srgbClr val="DCE8F7"/>
          </a:solidFill>
          <a:ln w="12700">
            <a:solidFill>
              <a:srgbClr val="DCE8F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2"/>
          <p:cNvSpPr txBox="1"/>
          <p:nvPr/>
        </p:nvSpPr>
        <p:spPr>
          <a:xfrm>
            <a:off x="6035040" y="5513832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2"/>
                </a:solidFill>
              </a:rPr>
              <a:t>대</a:t>
            </a:r>
            <a:endParaRPr lang="en-US" sz="1200" dirty="0"/>
          </a:p>
        </p:txBody>
      </p:sp>
      <p:sp>
        <p:nvSpPr>
          <p:cNvPr id="36" name="DecisionPanel"/>
          <p:cNvSpPr/>
          <p:nvPr/>
        </p:nvSpPr>
        <p:spPr>
          <a:xfrm>
            <a:off x="7269480" y="1325880"/>
            <a:ext cx="4370832" cy="4846320"/>
          </a:xfrm>
          <a:prstGeom prst="roundRect">
            <a:avLst>
              <a:gd name="adj" fmla="val 251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4"/>
          <p:cNvSpPr txBox="1"/>
          <p:nvPr/>
        </p:nvSpPr>
        <p:spPr>
          <a:xfrm>
            <a:off x="7543800" y="1508760"/>
            <a:ext cx="38221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F5A623"/>
                </a:solidFill>
              </a:rPr>
              <a:t>결정·협의 요청</a:t>
            </a:r>
            <a:endParaRPr lang="en-US" sz="1800" dirty="0"/>
          </a:p>
        </p:txBody>
      </p:sp>
      <p:sp>
        <p:nvSpPr>
          <p:cNvPr id="38" name="Text 35"/>
          <p:cNvSpPr txBox="1"/>
          <p:nvPr/>
        </p:nvSpPr>
        <p:spPr>
          <a:xfrm>
            <a:off x="7543800" y="2103120"/>
            <a:ext cx="3822192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알림 채널과 서비스 선정 (문자·카카오 알림톡·이메일), 발신번호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실데이터·ERP 접근 방법과 담당자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시나리오 기준값(수요 증가율, 납기 지연일) 합의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우선순위와 일정 확정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다음 보고 시점과 보고 형식</a:t>
            </a:r>
            <a:endParaRPr lang="en-US" sz="1500" dirty="0"/>
          </a:p>
        </p:txBody>
      </p:sp>
      <p:sp>
        <p:nvSpPr>
          <p:cNvPr id="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ridNavy">
  <a:themeElements>
    <a:clrScheme name="GridNavy">
      <a:dk1>
        <a:srgbClr val="1B2433"/>
      </a:dk1>
      <a:lt1>
        <a:srgbClr val="FFFFFF"/>
      </a:lt1>
      <a:dk2>
        <a:srgbClr val="0B1F3A"/>
      </a:dk2>
      <a:lt2>
        <a:srgbClr val="F4F6FA"/>
      </a:lt2>
      <a:accent1>
        <a:srgbClr val="1F6FEB"/>
      </a:accent1>
      <a:accent2>
        <a:srgbClr val="F5A623"/>
      </a:accent2>
      <a:accent3>
        <a:srgbClr val="1C7293"/>
      </a:accent3>
      <a:accent4>
        <a:srgbClr val="E5483A"/>
      </a:accent4>
      <a:accent5>
        <a:srgbClr val="1FA971"/>
      </a:accent5>
      <a:accent6>
        <a:srgbClr val="6B7A90"/>
      </a:accent6>
      <a:hlink>
        <a:srgbClr val="1F6FEB"/>
      </a:hlink>
      <a:folHlink>
        <a:srgbClr val="6B7A90"/>
      </a:folHlink>
    </a:clrScheme>
    <a:fontScheme name="GridNavy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1270</Words>
  <Application>Microsoft Office PowerPoint</Application>
  <PresentationFormat>와이드스크린</PresentationFormat>
  <Paragraphs>245</Paragraphs>
  <Slides>12</Slides>
  <Notes>12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5" baseType="lpstr">
      <vt:lpstr>Malgun Gothic</vt:lpstr>
      <vt:lpstr>Arial</vt:lpstr>
      <vt:lpstr>GridNavy</vt:lpstr>
      <vt:lpstr>기자재 최적 재고관리 시스템</vt:lpstr>
      <vt:lpstr>진행 현황 요약</vt:lpstr>
      <vt:lpstr>시스템 구성과 기술 스택</vt:lpstr>
      <vt:lpstr>화면 ① 대시보드</vt:lpstr>
      <vt:lpstr>화면 ② AI 위험 알림</vt:lpstr>
      <vt:lpstr>화면 ③ 수요예측</vt:lpstr>
      <vt:lpstr>화면 ④ 발주관리 · 재고관리</vt:lpstr>
      <vt:lpstr>화면 ⑤ 시뮬레이션</vt:lpstr>
      <vt:lpstr>화면 ⑥ 데이터 관리 · 로그인 · 운영</vt:lpstr>
      <vt:lpstr>원 기획 대비 구현 현황</vt:lpstr>
      <vt:lpstr>이슈와 한계</vt:lpstr>
      <vt:lpstr>향후 계획과 결정 요청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기자재 AI 수요예측 시스템 — 중간 보고서</dc:title>
  <dc:subject>PptxGenJS Presentation</dc:subject>
  <dc:creator>Claude Code</dc:creator>
  <cp:lastModifiedBy>고원영[컴퓨터정보공학과]</cp:lastModifiedBy>
  <cp:revision>2</cp:revision>
  <dcterms:created xsi:type="dcterms:W3CDTF">2026-10-25T09:13:03Z</dcterms:created>
  <dcterms:modified xsi:type="dcterms:W3CDTF">2026-10-25T10:28:17Z</dcterms:modified>
</cp:coreProperties>
</file>